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5.xml" ContentType="application/vnd.openxmlformats-officedocument.drawingml.chart+xml"/>
  <Override PartName="/ppt/charts/colors5.xml" ContentType="application/vnd.ms-office.chartcolorstyle+xml"/>
  <Override PartName="/ppt/charts/style5.xml" ContentType="application/vnd.ms-office.chartstyle+xml"/>
  <Override PartName="/ppt/charts/colors3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3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hart4.xml" ContentType="application/vnd.openxmlformats-officedocument.drawingml.char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_rels/chart5.xml.rels><?xml version="1.0" encoding="UTF-8"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0F3D2E"/>
                </a:solidFill>
                <a:uFillTx/>
                <a:latin typeface="Arial"/>
              </a:rPr>
              <a:t>Mean yield (kg/ha)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Mean yield</c:v>
                </c:pt>
              </c:strCache>
            </c:strRef>
          </c:tx>
          <c:spPr>
            <a:solidFill>
              <a:srgbClr val="3F8F4E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22272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Sugar cane</c:v>
                </c:pt>
                <c:pt idx="1">
                  <c:v>Sugar beet</c:v>
                </c:pt>
                <c:pt idx="2">
                  <c:v>Onions (dry)</c:v>
                </c:pt>
                <c:pt idx="3">
                  <c:v>Bananas</c:v>
                </c:pt>
                <c:pt idx="4">
                  <c:v>Taro</c:v>
                </c:pt>
                <c:pt idx="5">
                  <c:v>Tomatoes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101768</c:v>
                </c:pt>
                <c:pt idx="1">
                  <c:v>47014</c:v>
                </c:pt>
                <c:pt idx="2">
                  <c:v>32898</c:v>
                </c:pt>
                <c:pt idx="3">
                  <c:v>32118</c:v>
                </c:pt>
                <c:pt idx="4">
                  <c:v>30901</c:v>
                </c:pt>
                <c:pt idx="5">
                  <c:v>29097</c:v>
                </c:pt>
              </c:numCache>
            </c:numRef>
          </c:val>
        </c:ser>
        <c:gapWidth val="150"/>
        <c:overlap val="0"/>
        <c:axId val="89779616"/>
        <c:axId val="51037550"/>
      </c:barChart>
      <c:catAx>
        <c:axId val="89779616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22272B"/>
                </a:solidFill>
                <a:uFillTx/>
                <a:latin typeface="Arial"/>
              </a:defRPr>
            </a:pPr>
          </a:p>
        </c:txPr>
        <c:crossAx val="51037550"/>
        <c:crosses val="autoZero"/>
        <c:auto val="1"/>
        <c:lblAlgn val="ctr"/>
        <c:lblOffset val="100"/>
        <c:noMultiLvlLbl val="0"/>
      </c:catAx>
      <c:valAx>
        <c:axId val="5103755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6B7280"/>
                </a:solidFill>
                <a:uFillTx/>
                <a:latin typeface="Arial"/>
              </a:defRPr>
            </a:pPr>
          </a:p>
        </c:txPr>
        <c:crossAx val="89779616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0F3D2E"/>
                </a:solidFill>
                <a:uFillTx/>
                <a:latin typeface="Arial"/>
              </a:rPr>
              <a:t>Test error (kg/ha)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D9A441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2272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Baseline</c:v>
                </c:pt>
                <c:pt idx="1">
                  <c:v>Linear Reg.</c:v>
                </c:pt>
                <c:pt idx="2">
                  <c:v>Decision Tree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929</c:v>
                </c:pt>
                <c:pt idx="1">
                  <c:v>1140</c:v>
                </c:pt>
                <c:pt idx="2">
                  <c:v>1361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3F8F4E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2272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Baseline</c:v>
                </c:pt>
                <c:pt idx="1">
                  <c:v>Linear Reg.</c:v>
                </c:pt>
                <c:pt idx="2">
                  <c:v>Decision Tree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2672</c:v>
                </c:pt>
                <c:pt idx="1">
                  <c:v>2498</c:v>
                </c:pt>
                <c:pt idx="2">
                  <c:v>2695</c:v>
                </c:pt>
              </c:numCache>
            </c:numRef>
          </c:val>
        </c:ser>
        <c:gapWidth val="150"/>
        <c:overlap val="0"/>
        <c:axId val="8404487"/>
        <c:axId val="92893457"/>
      </c:barChart>
      <c:catAx>
        <c:axId val="840448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22272B"/>
                </a:solidFill>
                <a:uFillTx/>
                <a:latin typeface="Arial"/>
              </a:defRPr>
            </a:pPr>
          </a:p>
        </c:txPr>
        <c:crossAx val="92893457"/>
        <c:crosses val="autoZero"/>
        <c:auto val="1"/>
        <c:lblAlgn val="ctr"/>
        <c:lblOffset val="100"/>
        <c:noMultiLvlLbl val="0"/>
      </c:catAx>
      <c:valAx>
        <c:axId val="92893457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6B7280"/>
                </a:solidFill>
                <a:uFillTx/>
                <a:latin typeface="Arial"/>
              </a:defRPr>
            </a:pPr>
          </a:p>
        </c:txPr>
        <c:crossAx val="8404487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0F3D2E"/>
                </a:solidFill>
                <a:uFillTx/>
                <a:latin typeface="Arial"/>
              </a:rPr>
              <a:t>Test MAE by yield level (kg/ha of actual yield)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D9A441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2272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&lt;3.1k</c:v>
                </c:pt>
                <c:pt idx="1">
                  <c:v>3.1–7.5k</c:v>
                </c:pt>
                <c:pt idx="2">
                  <c:v>7.5–15.7k</c:v>
                </c:pt>
                <c:pt idx="3">
                  <c:v>15.7–26.8k</c:v>
                </c:pt>
                <c:pt idx="4">
                  <c:v>&gt;26.8k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166</c:v>
                </c:pt>
                <c:pt idx="1">
                  <c:v>298</c:v>
                </c:pt>
                <c:pt idx="2">
                  <c:v>719</c:v>
                </c:pt>
                <c:pt idx="3">
                  <c:v>1103</c:v>
                </c:pt>
                <c:pt idx="4">
                  <c:v>2355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Linear Reg.</c:v>
                </c:pt>
              </c:strCache>
            </c:strRef>
          </c:tx>
          <c:spPr>
            <a:solidFill>
              <a:srgbClr val="3F8F4E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2272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&lt;3.1k</c:v>
                </c:pt>
                <c:pt idx="1">
                  <c:v>3.1–7.5k</c:v>
                </c:pt>
                <c:pt idx="2">
                  <c:v>7.5–15.7k</c:v>
                </c:pt>
                <c:pt idx="3">
                  <c:v>15.7–26.8k</c:v>
                </c:pt>
                <c:pt idx="4">
                  <c:v>&gt;26.8k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199</c:v>
                </c:pt>
                <c:pt idx="1">
                  <c:v>605</c:v>
                </c:pt>
                <c:pt idx="2">
                  <c:v>811</c:v>
                </c:pt>
                <c:pt idx="3">
                  <c:v>1382</c:v>
                </c:pt>
                <c:pt idx="4">
                  <c:v>2697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2B5D8A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2272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&lt;3.1k</c:v>
                </c:pt>
                <c:pt idx="1">
                  <c:v>3.1–7.5k</c:v>
                </c:pt>
                <c:pt idx="2">
                  <c:v>7.5–15.7k</c:v>
                </c:pt>
                <c:pt idx="3">
                  <c:v>15.7–26.8k</c:v>
                </c:pt>
                <c:pt idx="4">
                  <c:v>&gt;26.8k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453</c:v>
                </c:pt>
                <c:pt idx="1">
                  <c:v>610</c:v>
                </c:pt>
                <c:pt idx="2">
                  <c:v>1013</c:v>
                </c:pt>
                <c:pt idx="3">
                  <c:v>1376</c:v>
                </c:pt>
                <c:pt idx="4">
                  <c:v>3345</c:v>
                </c:pt>
              </c:numCache>
            </c:numRef>
          </c:val>
        </c:ser>
        <c:gapWidth val="150"/>
        <c:overlap val="0"/>
        <c:axId val="27764673"/>
        <c:axId val="20724665"/>
      </c:barChart>
      <c:catAx>
        <c:axId val="2776467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22272B"/>
                </a:solidFill>
                <a:uFillTx/>
                <a:latin typeface="Arial"/>
              </a:defRPr>
            </a:pPr>
          </a:p>
        </c:txPr>
        <c:crossAx val="20724665"/>
        <c:crosses val="autoZero"/>
        <c:auto val="1"/>
        <c:lblAlgn val="ctr"/>
        <c:lblOffset val="100"/>
        <c:noMultiLvlLbl val="0"/>
      </c:catAx>
      <c:valAx>
        <c:axId val="20724665"/>
        <c:scaling>
          <c:orientation val="minMax"/>
        </c:scaling>
        <c:delete val="0"/>
        <c:axPos val="l"/>
        <c:majorGridlines>
          <c:spPr>
            <a:ln w="6480">
              <a:solidFill>
                <a:srgbClr val="E2DDCF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6B7280"/>
                </a:solidFill>
                <a:uFillTx/>
                <a:latin typeface="Arial"/>
              </a:defRPr>
            </a:pPr>
          </a:p>
        </c:txPr>
        <c:crossAx val="2776467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0F3D2E"/>
                </a:solidFill>
                <a:uFillTx/>
                <a:latin typeface="Arial"/>
              </a:rPr>
              <a:t>Linear Regression — standardized coefficients (kg/ha)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3F8F4E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3F8F4E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3F8F4E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3F8F4E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B5483A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B5483A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B5483A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3F8F4E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2227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2227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2227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2227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2227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2227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2227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2272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Yield_Lag1</c:v>
                </c:pt>
                <c:pt idx="1">
                  <c:v>Yield_RollingMean_3Y</c:v>
                </c:pt>
                <c:pt idx="2">
                  <c:v>Production_Lag1</c:v>
                </c:pt>
                <c:pt idx="3">
                  <c:v>Yield_Lag2</c:v>
                </c:pt>
                <c:pt idx="4">
                  <c:v>Area_Lag1</c:v>
                </c:pt>
                <c:pt idx="5">
                  <c:v>Area_Growth_Lag1</c:v>
                </c:pt>
                <c:pt idx="6">
                  <c:v>Production_Growth_Lag1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7309.2</c:v>
                </c:pt>
                <c:pt idx="1">
                  <c:v>5643.7</c:v>
                </c:pt>
                <c:pt idx="2">
                  <c:v>637.8</c:v>
                </c:pt>
                <c:pt idx="3">
                  <c:v>-615.7</c:v>
                </c:pt>
                <c:pt idx="4">
                  <c:v>-357.2</c:v>
                </c:pt>
                <c:pt idx="5">
                  <c:v>-80.4</c:v>
                </c:pt>
                <c:pt idx="6">
                  <c:v>51.1</c:v>
                </c:pt>
              </c:numCache>
            </c:numRef>
          </c:val>
        </c:ser>
        <c:gapWidth val="150"/>
        <c:overlap val="0"/>
        <c:axId val="36046342"/>
        <c:axId val="8564022"/>
      </c:barChart>
      <c:catAx>
        <c:axId val="36046342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22272B"/>
                </a:solidFill>
                <a:uFillTx/>
                <a:latin typeface="Arial"/>
              </a:defRPr>
            </a:pPr>
          </a:p>
        </c:txPr>
        <c:crossAx val="8564022"/>
        <c:crosses val="autoZero"/>
        <c:auto val="1"/>
        <c:lblAlgn val="ctr"/>
        <c:lblOffset val="100"/>
        <c:noMultiLvlLbl val="0"/>
      </c:catAx>
      <c:valAx>
        <c:axId val="856402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6B7280"/>
                </a:solidFill>
                <a:uFillTx/>
                <a:latin typeface="Arial"/>
              </a:defRPr>
            </a:pPr>
          </a:p>
        </c:txPr>
        <c:crossAx val="36046342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0F3D2E"/>
                </a:solidFill>
                <a:uFillTx/>
                <a:latin typeface="Arial"/>
              </a:rPr>
              <a:t>Decision Tree — feature importance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D9A441"/>
            </a:solidFill>
            <a:ln w="0">
              <a:noFill/>
            </a:ln>
          </c:spPr>
          <c:invertIfNegative val="0"/>
          <c:dLbls>
            <c:numFmt formatCode="0.00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2272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Item_Sugar cane</c:v>
                </c:pt>
                <c:pt idx="1">
                  <c:v>Yield_Lag1</c:v>
                </c:pt>
                <c:pt idx="2">
                  <c:v>Yield_RollingMean_3Y</c:v>
                </c:pt>
                <c:pt idx="3">
                  <c:v>Production_Lag1</c:v>
                </c:pt>
                <c:pt idx="4">
                  <c:v>Area_Lag1</c:v>
                </c:pt>
                <c:pt idx="5">
                  <c:v>Area_Growth_Lag1</c:v>
                </c:pt>
                <c:pt idx="6">
                  <c:v>Production_Growth_Lag1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0.5305</c:v>
                </c:pt>
                <c:pt idx="1">
                  <c:v>0.3936</c:v>
                </c:pt>
                <c:pt idx="2">
                  <c:v>0.0653</c:v>
                </c:pt>
                <c:pt idx="3">
                  <c:v>0.01</c:v>
                </c:pt>
                <c:pt idx="4">
                  <c:v>0.0003</c:v>
                </c:pt>
                <c:pt idx="5">
                  <c:v>0.0002</c:v>
                </c:pt>
                <c:pt idx="6">
                  <c:v>0</c:v>
                </c:pt>
              </c:numCache>
            </c:numRef>
          </c:val>
        </c:ser>
        <c:gapWidth val="150"/>
        <c:overlap val="0"/>
        <c:axId val="28212373"/>
        <c:axId val="13631649"/>
      </c:barChart>
      <c:catAx>
        <c:axId val="28212373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22272B"/>
                </a:solidFill>
                <a:uFillTx/>
                <a:latin typeface="Arial"/>
              </a:defRPr>
            </a:pPr>
          </a:p>
        </c:txPr>
        <c:crossAx val="13631649"/>
        <c:crosses val="autoZero"/>
        <c:auto val="1"/>
        <c:lblAlgn val="ctr"/>
        <c:lblOffset val="100"/>
        <c:noMultiLvlLbl val="0"/>
      </c:catAx>
      <c:valAx>
        <c:axId val="13631649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6B7280"/>
                </a:solidFill>
                <a:uFillTx/>
                <a:latin typeface="Arial"/>
              </a:defRPr>
            </a:pPr>
          </a:p>
        </c:txPr>
        <c:crossAx val="28212373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4EA6162-0E11-4D48-8BDE-737DFC295ED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CropWise predicts crop yield in Egypt from historical FAOSTAT data. Three-person team, GDG Al-Zaher Data Science Final Project 2026.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891BD8-1F64-42A0-91A3-408A5989D7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 to consequence to opportunity. We make no claims about economic impact; the point is that yield is a measurable quantity with a long history.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2A9CFA-CD00-4521-BDE7-0C6FD1F697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objective statement, then the end-to-end workflow.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73A9A6-C175-45F5-931B-01914410C9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Compact dataset overview. Train and test are split by time, not randomly.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CD0689-3175-4839-9311-BA369B0036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Numbers are from Data_Check.ipynb. Raw export includes livestock products, which were filtered out.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E7ABCE-8715-4336-A3FE-90ED08C18A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Images are from Visualization_and_Insights.ipynb; the bar chart is recomputed from the 4,329-row modeling dataset. EDA visuals cover the five major crops (wheat, rice, maize, sugar cane, tomatoes).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33B7BB-E5C6-406A-83E7-C9B1D9B213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Features use only past years. We never use same-year Production or Area harvested to predict same-year Yield.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77FB67-895B-44F4-ABA9-3DBAA0C13D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Persistence baseline: predicted yield equals last year's yield. It tells us whether a model adds anything beyond "yield changes slowly".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261068-DA06-4BAE-9B3E-BAC8F70C97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it carefully: baseline has the lowest MAE; Linear Regression has the lowest RMSE and highest R². No model wins every metric. Linear Regression is the app default because it has the lowest RMSE.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3470F4-FF46-4FFF-9759-5AC97FBBB9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Mean absolute error rises with yield level for every model. Sugar cane and sugar beet dominate the worst predictions. Sugar cane 2020 actual 72,880 kg/ha vs previous year 110,877: a sharp drop all three models missed.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0CC1DF-9987-4630-AD9E-141D13C941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Standardized coefficients come from Linear_Regression_Model.ipynb; tree importances from Final_Model_Analysis.ipynb. These are associations in predictive models, not causal effects.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9A0970-3BCF-4A94-BD4B-69853BE123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screenshot is the real interface from the API folder. It shows Carrots and turnips, Decision Tree, forecast for 2025.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BEAAB1-97F6-45C3-B80C-DEF1E86FC0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API folder contains train_model.py, model.json and crop_yield_app.html. There is no separate server: the HTML app computes predictions in the browser using the exported model.json.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575705-74FF-48FB-8BCD-121841C860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Limitations come directly from the README. Future work is framed as directions, not promises.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BBF639-DE05-45BF-AB25-C0F332F309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on the final sentence, then GitHub, team, Q&amp;A.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4AE8EA-7ED7-4380-9139-8115841EF8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github.com/Mohammed-Dahi/Egypt-Crop-Yield-Prediction" TargetMode="External"/><Relationship Id="rId2" Type="http://schemas.openxmlformats.org/officeDocument/2006/relationships/hyperlink" Target="https://github.com/Mohammed-Dahi/Egypt-Crop-Yield-Predicti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DB8A5"/>
                </a:solidFill>
                <a:effectLst/>
                <a:uFillTx/>
                <a:latin typeface="Calibri"/>
              </a:rPr>
              <a:t>CropWis</a:t>
            </a:r>
            <a:r>
              <a:rPr lang="en-US" sz="1000" b="0" u="none" strike="noStrike">
                <a:solidFill>
                  <a:srgbClr val="9DB8A5"/>
                </a:solidFill>
                <a:effectLst/>
                <a:uFillTx/>
                <a:latin typeface="Calibri"/>
              </a:rPr>
              <a:t>e · GDG </a:t>
            </a:r>
            <a:r>
              <a:rPr lang="en-US" sz="1000" b="0" u="none" strike="noStrike">
                <a:solidFill>
                  <a:srgbClr val="9DB8A5"/>
                </a:solidFill>
                <a:effectLst/>
                <a:uFillTx/>
                <a:latin typeface="Calibri"/>
              </a:rPr>
              <a:t>Al-Zaher </a:t>
            </a:r>
            <a:r>
              <a:rPr lang="en-US" sz="1000" b="0" u="none" strike="noStrike">
                <a:solidFill>
                  <a:srgbClr val="9DB8A5"/>
                </a:solidFill>
                <a:effectLst/>
                <a:uFillTx/>
                <a:latin typeface="Calibri"/>
              </a:rPr>
              <a:t>Data </a:t>
            </a:r>
            <a:r>
              <a:rPr lang="en-US" sz="1000" b="0" u="none" strike="noStrike">
                <a:solidFill>
                  <a:srgbClr val="9DB8A5"/>
                </a:solidFill>
                <a:effectLst/>
                <a:uFillTx/>
                <a:latin typeface="Calibri"/>
              </a:rPr>
              <a:t>Science </a:t>
            </a:r>
            <a:r>
              <a:rPr lang="en-US" sz="1000" b="0" u="none" strike="noStrike">
                <a:solidFill>
                  <a:srgbClr val="9DB8A5"/>
                </a:solidFill>
                <a:effectLst/>
                <a:uFillTx/>
                <a:latin typeface="Calibri"/>
              </a:rPr>
              <a:t>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DB8A5"/>
                </a:solidFill>
                <a:effectLst/>
                <a:uFillTx/>
                <a:latin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8CC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7315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8CC63F"/>
                </a:solidFill>
                <a:effectLst/>
                <a:uFillTx/>
                <a:latin typeface="Calibri"/>
              </a:rPr>
              <a:t>GDG AL-ZAHER · DATA SCIENCE FINAL PROJECT </a:t>
            </a:r>
            <a:r>
              <a:rPr lang="en-US" sz="1300" b="1" u="none" spc="300" strike="noStrike">
                <a:solidFill>
                  <a:srgbClr val="8CC63F"/>
                </a:solidFill>
                <a:effectLst/>
                <a:uFillTx/>
                <a:latin typeface="Calibri"/>
              </a:rPr>
              <a:t>2026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137160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Cro</a:t>
            </a:r>
            <a:r>
              <a:rPr lang="en-US" sz="8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pWi</a:t>
            </a:r>
            <a:r>
              <a:rPr lang="en-US" sz="8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se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26974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DCEBDD"/>
                </a:solidFill>
                <a:effectLst/>
                <a:uFillTx/>
                <a:latin typeface="Georgia"/>
                <a:ea typeface="Georgia"/>
              </a:rPr>
              <a:t>Egypt Crop </a:t>
            </a:r>
            <a:r>
              <a:rPr lang="en-US" sz="3200" b="0" u="none" strike="noStrike">
                <a:solidFill>
                  <a:srgbClr val="DCEBDD"/>
                </a:solidFill>
                <a:effectLst/>
                <a:uFillTx/>
                <a:latin typeface="Georgia"/>
                <a:ea typeface="Georgia"/>
              </a:rPr>
              <a:t>Yield </a:t>
            </a:r>
            <a:r>
              <a:rPr lang="en-US" sz="3200" b="0" u="none" strike="noStrike">
                <a:solidFill>
                  <a:srgbClr val="DCEBDD"/>
                </a:solidFill>
                <a:effectLst/>
                <a:uFillTx/>
                <a:latin typeface="Georgia"/>
                <a:ea typeface="Georgia"/>
              </a:rPr>
              <a:t>Prediction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822960" y="3749040"/>
            <a:ext cx="2285640" cy="1096920"/>
          </a:xfrm>
          <a:prstGeom prst="roundRect">
            <a:avLst>
              <a:gd name="adj" fmla="val 6667"/>
            </a:avLst>
          </a:prstGeom>
          <a:solidFill>
            <a:srgbClr val="17503D"/>
          </a:solidFill>
          <a:ln w="12700">
            <a:solidFill>
              <a:srgbClr val="2A6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960120" y="384048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8CC63F"/>
                </a:solidFill>
                <a:effectLst/>
                <a:uFillTx/>
                <a:latin typeface="Georgia"/>
                <a:ea typeface="Georgia"/>
              </a:rPr>
              <a:t>1964–2024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960120" y="44348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BDD"/>
                </a:solidFill>
                <a:effectLst/>
                <a:uFillTx/>
                <a:latin typeface="Calibri"/>
              </a:rPr>
              <a:t>FAOSTAT history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3291840" y="3749040"/>
            <a:ext cx="2285640" cy="1096920"/>
          </a:xfrm>
          <a:prstGeom prst="roundRect">
            <a:avLst>
              <a:gd name="adj" fmla="val 6667"/>
            </a:avLst>
          </a:prstGeom>
          <a:solidFill>
            <a:srgbClr val="17503D"/>
          </a:solidFill>
          <a:ln w="12700">
            <a:solidFill>
              <a:srgbClr val="2A6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3429000" y="384048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8CC63F"/>
                </a:solidFill>
                <a:effectLst/>
                <a:uFillTx/>
                <a:latin typeface="Georgia"/>
                <a:ea typeface="Georgia"/>
              </a:rPr>
              <a:t>77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3429000" y="44348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BDD"/>
                </a:solidFill>
                <a:effectLst/>
                <a:uFillTx/>
                <a:latin typeface="Calibri"/>
              </a:rPr>
              <a:t>crops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5760720" y="3749040"/>
            <a:ext cx="2285640" cy="1096920"/>
          </a:xfrm>
          <a:prstGeom prst="roundRect">
            <a:avLst>
              <a:gd name="adj" fmla="val 6667"/>
            </a:avLst>
          </a:prstGeom>
          <a:solidFill>
            <a:srgbClr val="17503D"/>
          </a:solidFill>
          <a:ln w="12700">
            <a:solidFill>
              <a:srgbClr val="2A6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5897880" y="384048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8CC63F"/>
                </a:solidFill>
                <a:effectLst/>
                <a:uFillTx/>
                <a:latin typeface="Georgia"/>
                <a:ea typeface="Georgia"/>
              </a:rPr>
              <a:t>4,329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5897880" y="44348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BDD"/>
                </a:solidFill>
                <a:effectLst/>
                <a:uFillTx/>
                <a:latin typeface="Calibri"/>
              </a:rPr>
              <a:t>modeling </a:t>
            </a:r>
            <a:r>
              <a:rPr lang="en-US" sz="1200" b="0" u="none" strike="noStrike">
                <a:solidFill>
                  <a:srgbClr val="DCEBDD"/>
                </a:solidFill>
                <a:effectLst/>
                <a:uFillTx/>
                <a:latin typeface="Calibri"/>
              </a:rPr>
              <a:t>records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822960" y="5303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BFD8C5"/>
                </a:solidFill>
                <a:effectLst/>
                <a:uFillTx/>
                <a:latin typeface="Calibri"/>
              </a:rPr>
              <a:t>Data source: </a:t>
            </a:r>
            <a:r>
              <a:rPr lang="en-US" sz="1300" b="0" u="none" strike="noStrike">
                <a:solidFill>
                  <a:srgbClr val="BFD8C5"/>
                </a:solidFill>
                <a:effectLst/>
                <a:uFillTx/>
                <a:latin typeface="Calibri"/>
              </a:rPr>
              <a:t>FAOSTAT — </a:t>
            </a:r>
            <a:r>
              <a:rPr lang="en-US" sz="1300" b="0" u="none" strike="noStrike">
                <a:solidFill>
                  <a:srgbClr val="BFD8C5"/>
                </a:solidFill>
                <a:effectLst/>
                <a:uFillTx/>
                <a:latin typeface="Calibri"/>
              </a:rPr>
              <a:t>Crop </a:t>
            </a:r>
            <a:r>
              <a:rPr lang="en-US" sz="1300" b="0" u="none" strike="noStrike">
                <a:solidFill>
                  <a:srgbClr val="BFD8C5"/>
                </a:solidFill>
                <a:effectLst/>
                <a:uFillTx/>
                <a:latin typeface="Calibri"/>
              </a:rPr>
              <a:t>Production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822960" y="56692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Team: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Mohamed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Dahi ·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Shorouk ·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Shams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8778240" y="1097280"/>
            <a:ext cx="3108600" cy="3108600"/>
          </a:xfrm>
          <a:prstGeom prst="ellipse">
            <a:avLst/>
          </a:prstGeom>
          <a:solidFill>
            <a:srgbClr val="17503D"/>
          </a:solidFill>
          <a:ln w="25400">
            <a:solidFill>
              <a:srgbClr val="2A6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8778240" y="1554480"/>
            <a:ext cx="31086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🌾</a:t>
            </a:r>
            <a:endParaRPr lang="en-US" sz="1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The </a:t>
            </a: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proble</a:t>
            </a: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54864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yield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varies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acros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s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crops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and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acros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s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years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548640" y="1737360"/>
            <a:ext cx="3520080" cy="40230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548640" y="1737360"/>
            <a:ext cx="3520080" cy="109440"/>
          </a:xfrm>
          <a:prstGeom prst="rect">
            <a:avLst/>
          </a:prstGeom>
          <a:solidFill>
            <a:srgbClr val="0F3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822960" y="210312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0F3D2E"/>
                </a:solidFill>
                <a:effectLst/>
                <a:uFillTx/>
                <a:latin typeface="Calibri"/>
              </a:rPr>
              <a:t>PROBLEM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822960" y="251460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272B"/>
                </a:solidFill>
                <a:effectLst/>
                <a:uFillTx/>
                <a:latin typeface="Georgia"/>
                <a:ea typeface="Georgia"/>
              </a:rPr>
              <a:t>Yield </a:t>
            </a:r>
            <a:r>
              <a:rPr lang="en-US" sz="2200" b="1" u="none" strike="noStrike">
                <a:solidFill>
                  <a:srgbClr val="22272B"/>
                </a:solidFill>
                <a:effectLst/>
                <a:uFillTx/>
                <a:latin typeface="Georgia"/>
                <a:ea typeface="Georgia"/>
              </a:rPr>
              <a:t>differs </a:t>
            </a:r>
            <a:r>
              <a:rPr lang="en-US" sz="2200" b="1" u="none" strike="noStrike">
                <a:solidFill>
                  <a:srgbClr val="22272B"/>
                </a:solidFill>
                <a:effectLst/>
                <a:uFillTx/>
                <a:latin typeface="Georgia"/>
                <a:ea typeface="Georgia"/>
              </a:rPr>
              <a:t>by </a:t>
            </a:r>
            <a:r>
              <a:rPr lang="en-US" sz="2200" b="1" u="none" strike="noStrike">
                <a:solidFill>
                  <a:srgbClr val="22272B"/>
                </a:solidFill>
                <a:effectLst/>
                <a:uFillTx/>
                <a:latin typeface="Georgia"/>
                <a:ea typeface="Georgia"/>
              </a:rPr>
              <a:t>crop </a:t>
            </a:r>
            <a:r>
              <a:rPr lang="en-US" sz="2200" b="1" u="none" strike="noStrike">
                <a:solidFill>
                  <a:srgbClr val="22272B"/>
                </a:solidFill>
                <a:effectLst/>
                <a:uFillTx/>
                <a:latin typeface="Georgia"/>
                <a:ea typeface="Georgia"/>
              </a:rPr>
              <a:t>and </a:t>
            </a:r>
            <a:r>
              <a:rPr lang="en-US" sz="2200" b="1" u="none" strike="noStrike">
                <a:solidFill>
                  <a:srgbClr val="22272B"/>
                </a:solidFill>
                <a:effectLst/>
                <a:uFillTx/>
                <a:latin typeface="Georgia"/>
                <a:ea typeface="Georgia"/>
              </a:rPr>
              <a:t>chang</a:t>
            </a:r>
            <a:r>
              <a:rPr lang="en-US" sz="2200" b="1" u="none" strike="noStrike">
                <a:solidFill>
                  <a:srgbClr val="22272B"/>
                </a:solidFill>
                <a:effectLst/>
                <a:uFillTx/>
                <a:latin typeface="Georgia"/>
                <a:ea typeface="Georgia"/>
              </a:rPr>
              <a:t>es year </a:t>
            </a:r>
            <a:r>
              <a:rPr lang="en-US" sz="2200" b="1" u="none" strike="noStrike">
                <a:solidFill>
                  <a:srgbClr val="22272B"/>
                </a:solidFill>
                <a:effectLst/>
                <a:uFillTx/>
                <a:latin typeface="Georgia"/>
                <a:ea typeface="Georgia"/>
              </a:rPr>
              <a:t>to year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822960" y="4023360"/>
            <a:ext cx="30171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Egypt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yields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span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roughly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840 kg/ha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to over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100,000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kg/ha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across the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77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modeled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4069080" y="338328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3F8F4E"/>
                </a:solidFill>
                <a:effectLst/>
                <a:uFillTx/>
                <a:latin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0"/>
          <p:cNvSpPr/>
          <p:nvPr/>
        </p:nvSpPr>
        <p:spPr>
          <a:xfrm>
            <a:off x="4343400" y="1737360"/>
            <a:ext cx="3520080" cy="40230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1"/>
          <p:cNvSpPr/>
          <p:nvPr/>
        </p:nvSpPr>
        <p:spPr>
          <a:xfrm>
            <a:off x="4343400" y="1737360"/>
            <a:ext cx="3520080" cy="109440"/>
          </a:xfrm>
          <a:prstGeom prst="rect">
            <a:avLst/>
          </a:prstGeom>
          <a:solidFill>
            <a:srgbClr val="7A5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4617720" y="210312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A5C1E"/>
                </a:solidFill>
                <a:effectLst/>
                <a:uFillTx/>
                <a:latin typeface="Calibri"/>
              </a:rPr>
              <a:t>CONSEQUENCE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4617720" y="251460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272B"/>
                </a:solidFill>
                <a:effectLst/>
                <a:uFillTx/>
                <a:latin typeface="Georgia"/>
                <a:ea typeface="Georgia"/>
              </a:rPr>
              <a:t>A single year's yield is hard to anticipate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4617720" y="4023360"/>
            <a:ext cx="30171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Without a reference estimate, there is no data-driven starting point for what a crop's yield is likely to be.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7863840" y="338328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3F8F4E"/>
                </a:solidFill>
                <a:effectLst/>
                <a:uFillTx/>
                <a:latin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6"/>
          <p:cNvSpPr/>
          <p:nvPr/>
        </p:nvSpPr>
        <p:spPr>
          <a:xfrm>
            <a:off x="8138160" y="1737360"/>
            <a:ext cx="3520080" cy="40230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7"/>
          <p:cNvSpPr/>
          <p:nvPr/>
        </p:nvSpPr>
        <p:spPr>
          <a:xfrm>
            <a:off x="8138160" y="1737360"/>
            <a:ext cx="3520080" cy="109440"/>
          </a:xfrm>
          <a:prstGeom prst="rect">
            <a:avLst/>
          </a:prstGeom>
          <a:solidFill>
            <a:srgbClr val="3F8F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8"/>
          <p:cNvSpPr/>
          <p:nvPr/>
        </p:nvSpPr>
        <p:spPr>
          <a:xfrm>
            <a:off x="8412480" y="210312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3F8F4E"/>
                </a:solidFill>
                <a:effectLst/>
                <a:uFillTx/>
                <a:latin typeface="Calibri"/>
              </a:rPr>
              <a:t>OPPORTUNITY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8412480" y="251460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272B"/>
                </a:solidFill>
                <a:effectLst/>
                <a:uFillTx/>
                <a:latin typeface="Georgia"/>
                <a:ea typeface="Georgia"/>
              </a:rPr>
              <a:t>60+ years of FAOSTAT history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8412480" y="4023360"/>
            <a:ext cx="30171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Yield changes slowly for most crops, so recent history carries real predictive signal.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Project objective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54864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Analyze historical patterns, then estimate yield from history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"/>
          <p:cNvSpPr/>
          <p:nvPr/>
        </p:nvSpPr>
        <p:spPr>
          <a:xfrm>
            <a:off x="548640" y="1645920"/>
            <a:ext cx="11063880" cy="1371240"/>
          </a:xfrm>
          <a:prstGeom prst="roundRect">
            <a:avLst>
              <a:gd name="adj" fmla="val 5333"/>
            </a:avLst>
          </a:prstGeom>
          <a:solidFill>
            <a:srgbClr val="0F3D2E"/>
          </a:solidFill>
          <a:ln w="12700">
            <a:solidFill>
              <a:srgbClr val="0F3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868680" y="1828800"/>
            <a:ext cx="10423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Use historical agricultural data from Egypt to analyze crop yield patterns and build a machine learning system that estimates crop yield from historical information.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6"/>
          <p:cNvSpPr/>
          <p:nvPr/>
        </p:nvSpPr>
        <p:spPr>
          <a:xfrm>
            <a:off x="548640" y="3657600"/>
            <a:ext cx="1996200" cy="1005480"/>
          </a:xfrm>
          <a:prstGeom prst="chevron">
            <a:avLst>
              <a:gd name="adj" fmla="val 50000"/>
            </a:avLst>
          </a:prstGeom>
          <a:solidFill>
            <a:srgbClr val="0F3D2E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822960" y="3657600"/>
            <a:ext cx="153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 check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2408040" y="3657600"/>
            <a:ext cx="1996200" cy="1005480"/>
          </a:xfrm>
          <a:prstGeom prst="chevron">
            <a:avLst>
              <a:gd name="adj" fmla="val 50000"/>
            </a:avLst>
          </a:prstGeom>
          <a:solidFill>
            <a:srgbClr val="1D5A3F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2682360" y="3657600"/>
            <a:ext cx="153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EDA &amp; visuals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0"/>
          <p:cNvSpPr/>
          <p:nvPr/>
        </p:nvSpPr>
        <p:spPr>
          <a:xfrm>
            <a:off x="4267080" y="3657600"/>
            <a:ext cx="1996200" cy="1005480"/>
          </a:xfrm>
          <a:prstGeom prst="chevron">
            <a:avLst>
              <a:gd name="adj" fmla="val 50000"/>
            </a:avLst>
          </a:prstGeom>
          <a:solidFill>
            <a:srgbClr val="3F8F4E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4541400" y="3657600"/>
            <a:ext cx="153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Feature engineering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2"/>
          <p:cNvSpPr/>
          <p:nvPr/>
        </p:nvSpPr>
        <p:spPr>
          <a:xfrm>
            <a:off x="6126480" y="3657600"/>
            <a:ext cx="1996200" cy="1005480"/>
          </a:xfrm>
          <a:prstGeom prst="chevron">
            <a:avLst>
              <a:gd name="adj" fmla="val 50000"/>
            </a:avLst>
          </a:prstGeom>
          <a:solidFill>
            <a:srgbClr val="5FA350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6400800" y="3657600"/>
            <a:ext cx="153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Baseline + 2 models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4"/>
          <p:cNvSpPr/>
          <p:nvPr/>
        </p:nvSpPr>
        <p:spPr>
          <a:xfrm>
            <a:off x="7985880" y="3657600"/>
            <a:ext cx="1996200" cy="1005480"/>
          </a:xfrm>
          <a:prstGeom prst="chevron">
            <a:avLst>
              <a:gd name="adj" fmla="val 50000"/>
            </a:avLst>
          </a:prstGeom>
          <a:solidFill>
            <a:srgbClr val="7AB844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8260200" y="3657600"/>
            <a:ext cx="153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Evaluation &amp; errors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6"/>
          <p:cNvSpPr/>
          <p:nvPr/>
        </p:nvSpPr>
        <p:spPr>
          <a:xfrm>
            <a:off x="9844920" y="3657600"/>
            <a:ext cx="1996200" cy="1005480"/>
          </a:xfrm>
          <a:prstGeom prst="chevron">
            <a:avLst>
              <a:gd name="adj" fmla="val 50000"/>
            </a:avLst>
          </a:prstGeom>
          <a:solidFill>
            <a:srgbClr val="5E9E3B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7"/>
          <p:cNvSpPr/>
          <p:nvPr/>
        </p:nvSpPr>
        <p:spPr>
          <a:xfrm>
            <a:off x="10119240" y="3657600"/>
            <a:ext cx="153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Prediction interface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548640" y="5029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Chronological split · all features use past information only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The dataset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54864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FAOSTAT Crop Production — Egypt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548640" y="1554480"/>
            <a:ext cx="260568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685800" y="169164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1964–2024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685800" y="235908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modeling period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3337560" y="1554480"/>
            <a:ext cx="2605680" cy="1234080"/>
          </a:xfrm>
          <a:prstGeom prst="roundRect">
            <a:avLst>
              <a:gd name="adj" fmla="val 5926"/>
            </a:avLst>
          </a:prstGeom>
          <a:solidFill>
            <a:srgbClr val="0F3D2E"/>
          </a:solidFill>
          <a:ln w="12700">
            <a:solidFill>
              <a:srgbClr val="0F3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3474720" y="169164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4,329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3474720" y="235908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EBDD"/>
                </a:solidFill>
                <a:effectLst/>
                <a:uFillTx/>
                <a:latin typeface="Calibri"/>
              </a:rPr>
              <a:t>modeling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6126480" y="1554480"/>
            <a:ext cx="260568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6263640" y="169164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77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6263640" y="235908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8915400" y="1554480"/>
            <a:ext cx="260568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9052560" y="169164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kg/ha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9052560" y="235908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target: Yield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548640" y="3108960"/>
            <a:ext cx="6766200" cy="31086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822960" y="324612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Crop × Year × Historical variables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822960" y="3749040"/>
            <a:ext cx="1371240" cy="456840"/>
          </a:xfrm>
          <a:prstGeom prst="roundRect">
            <a:avLst>
              <a:gd name="adj" fmla="val 16000"/>
            </a:avLst>
          </a:prstGeom>
          <a:solidFill>
            <a:srgbClr val="EFE9D8"/>
          </a:solidFill>
          <a:ln w="12700">
            <a:solidFill>
              <a:srgbClr val="EFE9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822960" y="37490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Crop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0"/>
          <p:cNvSpPr/>
          <p:nvPr/>
        </p:nvSpPr>
        <p:spPr>
          <a:xfrm>
            <a:off x="822960" y="4297680"/>
            <a:ext cx="137124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822960" y="429768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Wheat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822960" y="4846320"/>
            <a:ext cx="137124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822960" y="484632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Rice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4"/>
          <p:cNvSpPr/>
          <p:nvPr/>
        </p:nvSpPr>
        <p:spPr>
          <a:xfrm>
            <a:off x="822960" y="5394960"/>
            <a:ext cx="137124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5"/>
          <p:cNvSpPr/>
          <p:nvPr/>
        </p:nvSpPr>
        <p:spPr>
          <a:xfrm>
            <a:off x="822960" y="539496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⋮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6"/>
          <p:cNvSpPr/>
          <p:nvPr/>
        </p:nvSpPr>
        <p:spPr>
          <a:xfrm>
            <a:off x="2240280" y="3749040"/>
            <a:ext cx="731160" cy="456840"/>
          </a:xfrm>
          <a:prstGeom prst="roundRect">
            <a:avLst>
              <a:gd name="adj" fmla="val 16000"/>
            </a:avLst>
          </a:prstGeom>
          <a:solidFill>
            <a:srgbClr val="EFE9D8"/>
          </a:solidFill>
          <a:ln w="12700">
            <a:solidFill>
              <a:srgbClr val="EFE9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7"/>
          <p:cNvSpPr/>
          <p:nvPr/>
        </p:nvSpPr>
        <p:spPr>
          <a:xfrm>
            <a:off x="2240280" y="374904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Year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8"/>
          <p:cNvSpPr/>
          <p:nvPr/>
        </p:nvSpPr>
        <p:spPr>
          <a:xfrm>
            <a:off x="2240280" y="4297680"/>
            <a:ext cx="73116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9"/>
          <p:cNvSpPr/>
          <p:nvPr/>
        </p:nvSpPr>
        <p:spPr>
          <a:xfrm>
            <a:off x="2240280" y="429768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0"/>
          <p:cNvSpPr/>
          <p:nvPr/>
        </p:nvSpPr>
        <p:spPr>
          <a:xfrm>
            <a:off x="2240280" y="4846320"/>
            <a:ext cx="73116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1"/>
          <p:cNvSpPr/>
          <p:nvPr/>
        </p:nvSpPr>
        <p:spPr>
          <a:xfrm>
            <a:off x="2240280" y="484632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2"/>
          <p:cNvSpPr/>
          <p:nvPr/>
        </p:nvSpPr>
        <p:spPr>
          <a:xfrm>
            <a:off x="2240280" y="5394960"/>
            <a:ext cx="73116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3"/>
          <p:cNvSpPr/>
          <p:nvPr/>
        </p:nvSpPr>
        <p:spPr>
          <a:xfrm>
            <a:off x="2240280" y="539496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⋮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4"/>
          <p:cNvSpPr/>
          <p:nvPr/>
        </p:nvSpPr>
        <p:spPr>
          <a:xfrm>
            <a:off x="3017520" y="3749040"/>
            <a:ext cx="1096920" cy="456840"/>
          </a:xfrm>
          <a:prstGeom prst="roundRect">
            <a:avLst>
              <a:gd name="adj" fmla="val 16000"/>
            </a:avLst>
          </a:prstGeom>
          <a:solidFill>
            <a:srgbClr val="EFE9D8"/>
          </a:solidFill>
          <a:ln w="12700">
            <a:solidFill>
              <a:srgbClr val="EFE9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5"/>
          <p:cNvSpPr/>
          <p:nvPr/>
        </p:nvSpPr>
        <p:spPr>
          <a:xfrm>
            <a:off x="3017520" y="374904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Yield_Lag1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6"/>
          <p:cNvSpPr/>
          <p:nvPr/>
        </p:nvSpPr>
        <p:spPr>
          <a:xfrm>
            <a:off x="3017520" y="4297680"/>
            <a:ext cx="109692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7"/>
          <p:cNvSpPr/>
          <p:nvPr/>
        </p:nvSpPr>
        <p:spPr>
          <a:xfrm>
            <a:off x="3017520" y="42976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···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8"/>
          <p:cNvSpPr/>
          <p:nvPr/>
        </p:nvSpPr>
        <p:spPr>
          <a:xfrm>
            <a:off x="3017520" y="4846320"/>
            <a:ext cx="109692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9"/>
          <p:cNvSpPr/>
          <p:nvPr/>
        </p:nvSpPr>
        <p:spPr>
          <a:xfrm>
            <a:off x="3017520" y="484632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···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40"/>
          <p:cNvSpPr/>
          <p:nvPr/>
        </p:nvSpPr>
        <p:spPr>
          <a:xfrm>
            <a:off x="3017520" y="5394960"/>
            <a:ext cx="109692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1"/>
          <p:cNvSpPr/>
          <p:nvPr/>
        </p:nvSpPr>
        <p:spPr>
          <a:xfrm>
            <a:off x="3017520" y="539496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···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2"/>
          <p:cNvSpPr/>
          <p:nvPr/>
        </p:nvSpPr>
        <p:spPr>
          <a:xfrm>
            <a:off x="4160520" y="3749040"/>
            <a:ext cx="1005480" cy="456840"/>
          </a:xfrm>
          <a:prstGeom prst="roundRect">
            <a:avLst>
              <a:gd name="adj" fmla="val 16000"/>
            </a:avLst>
          </a:prstGeom>
          <a:solidFill>
            <a:srgbClr val="EFE9D8"/>
          </a:solidFill>
          <a:ln w="12700">
            <a:solidFill>
              <a:srgbClr val="EFE9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3"/>
          <p:cNvSpPr/>
          <p:nvPr/>
        </p:nvSpPr>
        <p:spPr>
          <a:xfrm>
            <a:off x="4160520" y="374904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Prod_Lag1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4"/>
          <p:cNvSpPr/>
          <p:nvPr/>
        </p:nvSpPr>
        <p:spPr>
          <a:xfrm>
            <a:off x="4160520" y="4297680"/>
            <a:ext cx="100548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5"/>
          <p:cNvSpPr/>
          <p:nvPr/>
        </p:nvSpPr>
        <p:spPr>
          <a:xfrm>
            <a:off x="4160520" y="429768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···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6"/>
          <p:cNvSpPr/>
          <p:nvPr/>
        </p:nvSpPr>
        <p:spPr>
          <a:xfrm>
            <a:off x="4160520" y="4846320"/>
            <a:ext cx="100548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7"/>
          <p:cNvSpPr/>
          <p:nvPr/>
        </p:nvSpPr>
        <p:spPr>
          <a:xfrm>
            <a:off x="4160520" y="484632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···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8"/>
          <p:cNvSpPr/>
          <p:nvPr/>
        </p:nvSpPr>
        <p:spPr>
          <a:xfrm>
            <a:off x="4160520" y="5394960"/>
            <a:ext cx="100548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9"/>
          <p:cNvSpPr/>
          <p:nvPr/>
        </p:nvSpPr>
        <p:spPr>
          <a:xfrm>
            <a:off x="4160520" y="539496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···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50"/>
          <p:cNvSpPr/>
          <p:nvPr/>
        </p:nvSpPr>
        <p:spPr>
          <a:xfrm>
            <a:off x="5212080" y="3749040"/>
            <a:ext cx="1005480" cy="456840"/>
          </a:xfrm>
          <a:prstGeom prst="roundRect">
            <a:avLst>
              <a:gd name="adj" fmla="val 16000"/>
            </a:avLst>
          </a:prstGeom>
          <a:solidFill>
            <a:srgbClr val="EFE9D8"/>
          </a:solidFill>
          <a:ln w="12700">
            <a:solidFill>
              <a:srgbClr val="EFE9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1"/>
          <p:cNvSpPr/>
          <p:nvPr/>
        </p:nvSpPr>
        <p:spPr>
          <a:xfrm>
            <a:off x="5212080" y="374904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Area_Lag1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52"/>
          <p:cNvSpPr/>
          <p:nvPr/>
        </p:nvSpPr>
        <p:spPr>
          <a:xfrm>
            <a:off x="5212080" y="4297680"/>
            <a:ext cx="100548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3"/>
          <p:cNvSpPr/>
          <p:nvPr/>
        </p:nvSpPr>
        <p:spPr>
          <a:xfrm>
            <a:off x="5212080" y="429768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···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4"/>
          <p:cNvSpPr/>
          <p:nvPr/>
        </p:nvSpPr>
        <p:spPr>
          <a:xfrm>
            <a:off x="5212080" y="4846320"/>
            <a:ext cx="100548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5"/>
          <p:cNvSpPr/>
          <p:nvPr/>
        </p:nvSpPr>
        <p:spPr>
          <a:xfrm>
            <a:off x="5212080" y="484632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···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56"/>
          <p:cNvSpPr/>
          <p:nvPr/>
        </p:nvSpPr>
        <p:spPr>
          <a:xfrm>
            <a:off x="5212080" y="5394960"/>
            <a:ext cx="100548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7"/>
          <p:cNvSpPr/>
          <p:nvPr/>
        </p:nvSpPr>
        <p:spPr>
          <a:xfrm>
            <a:off x="5212080" y="539496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···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58"/>
          <p:cNvSpPr/>
          <p:nvPr/>
        </p:nvSpPr>
        <p:spPr>
          <a:xfrm>
            <a:off x="6263640" y="3749040"/>
            <a:ext cx="914040" cy="456840"/>
          </a:xfrm>
          <a:prstGeom prst="roundRect">
            <a:avLst>
              <a:gd name="adj" fmla="val 16000"/>
            </a:avLst>
          </a:prstGeom>
          <a:solidFill>
            <a:srgbClr val="3F8F4E"/>
          </a:solidFill>
          <a:ln w="12700">
            <a:solidFill>
              <a:srgbClr val="EFE9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9"/>
          <p:cNvSpPr/>
          <p:nvPr/>
        </p:nvSpPr>
        <p:spPr>
          <a:xfrm>
            <a:off x="6263640" y="374904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→ Yield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0"/>
          <p:cNvSpPr/>
          <p:nvPr/>
        </p:nvSpPr>
        <p:spPr>
          <a:xfrm>
            <a:off x="6263640" y="4297680"/>
            <a:ext cx="914040" cy="456840"/>
          </a:xfrm>
          <a:prstGeom prst="roundRect">
            <a:avLst>
              <a:gd name="adj" fmla="val 16000"/>
            </a:avLst>
          </a:prstGeom>
          <a:solidFill>
            <a:srgbClr val="DCEBDD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1"/>
          <p:cNvSpPr/>
          <p:nvPr/>
        </p:nvSpPr>
        <p:spPr>
          <a:xfrm>
            <a:off x="6263640" y="429768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···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62"/>
          <p:cNvSpPr/>
          <p:nvPr/>
        </p:nvSpPr>
        <p:spPr>
          <a:xfrm>
            <a:off x="6263640" y="4846320"/>
            <a:ext cx="914040" cy="456840"/>
          </a:xfrm>
          <a:prstGeom prst="roundRect">
            <a:avLst>
              <a:gd name="adj" fmla="val 16000"/>
            </a:avLst>
          </a:prstGeom>
          <a:solidFill>
            <a:srgbClr val="DCEBDD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3"/>
          <p:cNvSpPr/>
          <p:nvPr/>
        </p:nvSpPr>
        <p:spPr>
          <a:xfrm>
            <a:off x="6263640" y="4846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···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4"/>
          <p:cNvSpPr/>
          <p:nvPr/>
        </p:nvSpPr>
        <p:spPr>
          <a:xfrm>
            <a:off x="6263640" y="5394960"/>
            <a:ext cx="914040" cy="456840"/>
          </a:xfrm>
          <a:prstGeom prst="roundRect">
            <a:avLst>
              <a:gd name="adj" fmla="val 16000"/>
            </a:avLst>
          </a:prstGeom>
          <a:solidFill>
            <a:srgbClr val="DCEBDD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65"/>
          <p:cNvSpPr/>
          <p:nvPr/>
        </p:nvSpPr>
        <p:spPr>
          <a:xfrm>
            <a:off x="6263640" y="539496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···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6"/>
          <p:cNvSpPr/>
          <p:nvPr/>
        </p:nvSpPr>
        <p:spPr>
          <a:xfrm>
            <a:off x="7589520" y="3108960"/>
            <a:ext cx="4023000" cy="31086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7"/>
          <p:cNvSpPr/>
          <p:nvPr/>
        </p:nvSpPr>
        <p:spPr>
          <a:xfrm>
            <a:off x="7863840" y="32461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Chronological split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8"/>
          <p:cNvSpPr/>
          <p:nvPr/>
        </p:nvSpPr>
        <p:spPr>
          <a:xfrm>
            <a:off x="7863840" y="3749040"/>
            <a:ext cx="34743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Train  1964–2013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3,502 rows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Test  2014–2024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827 rows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Tuning used a validation split inside train (2004–2013).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Data understanding &amp; quality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4864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From raw FAOSTAT export to modeling records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548640" y="1645920"/>
            <a:ext cx="11063880" cy="868320"/>
          </a:xfrm>
          <a:prstGeom prst="rect">
            <a:avLst/>
          </a:prstGeom>
          <a:solidFill>
            <a:srgbClr val="0F3D2E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822960" y="164592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22,568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3017520" y="1645920"/>
            <a:ext cx="8320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raw Egypt rows · 156 items · 1961–2024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1280160" y="2697480"/>
            <a:ext cx="9600840" cy="868320"/>
          </a:xfrm>
          <a:prstGeom prst="rect">
            <a:avLst/>
          </a:prstGeom>
          <a:solidFill>
            <a:srgbClr val="1D5A3F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1554480" y="269748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18,118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3749040" y="2697480"/>
            <a:ext cx="6857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rows kept: Production, Area harvested, Yield · 140 items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0"/>
          <p:cNvSpPr/>
          <p:nvPr/>
        </p:nvSpPr>
        <p:spPr>
          <a:xfrm>
            <a:off x="2011680" y="3749040"/>
            <a:ext cx="8137800" cy="868320"/>
          </a:xfrm>
          <a:prstGeom prst="rect">
            <a:avLst/>
          </a:prstGeom>
          <a:solidFill>
            <a:srgbClr val="3F8F4E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2286000" y="374904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4,562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2"/>
          <p:cNvSpPr/>
          <p:nvPr/>
        </p:nvSpPr>
        <p:spPr>
          <a:xfrm>
            <a:off x="4480560" y="3749040"/>
            <a:ext cx="5394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complete crop-year records (all three elements)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3"/>
          <p:cNvSpPr/>
          <p:nvPr/>
        </p:nvSpPr>
        <p:spPr>
          <a:xfrm>
            <a:off x="2743200" y="4800600"/>
            <a:ext cx="6674760" cy="868320"/>
          </a:xfrm>
          <a:prstGeom prst="rect">
            <a:avLst/>
          </a:prstGeom>
          <a:solidFill>
            <a:srgbClr val="8CC63F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3017520" y="480060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4,329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5"/>
          <p:cNvSpPr/>
          <p:nvPr/>
        </p:nvSpPr>
        <p:spPr>
          <a:xfrm>
            <a:off x="5212080" y="4800600"/>
            <a:ext cx="3931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records with lag features · 77 crops · 1964–2024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548640" y="59436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• 288 missing Value entries in the raw export (22,568 rows)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• Lag features need prior years, so the first year of each crop is dropped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• Rows with missing lag features were removed; the final matrix has no missing values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EDA: what did we discover?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54864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Three patterns that shaped the modeling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548640" y="1554480"/>
            <a:ext cx="3657240" cy="4480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0" descr="Visu_9_1.png"/>
          <p:cNvPicPr/>
          <p:nvPr/>
        </p:nvPicPr>
        <p:blipFill>
          <a:blip r:embed="rId1"/>
          <a:stretch/>
        </p:blipFill>
        <p:spPr>
          <a:xfrm>
            <a:off x="640080" y="1645920"/>
            <a:ext cx="3474360" cy="171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5"/>
          <p:cNvSpPr/>
          <p:nvPr/>
        </p:nvSpPr>
        <p:spPr>
          <a:xfrm>
            <a:off x="731520" y="34747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Production has trended upward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731520" y="384048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Sugar cane leads in volume; wheat and maize rise steadily since the 1980s.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4297680" y="1554480"/>
            <a:ext cx="3657240" cy="4480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1" descr="Visu_15_3.png"/>
          <p:cNvPicPr/>
          <p:nvPr/>
        </p:nvPicPr>
        <p:blipFill>
          <a:blip r:embed="rId2"/>
          <a:stretch/>
        </p:blipFill>
        <p:spPr>
          <a:xfrm>
            <a:off x="4389120" y="1645920"/>
            <a:ext cx="3474360" cy="170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8"/>
          <p:cNvSpPr/>
          <p:nvPr/>
        </p:nvSpPr>
        <p:spPr>
          <a:xfrm>
            <a:off x="4480560" y="34747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Yield gains vs. land expansion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9"/>
          <p:cNvSpPr/>
          <p:nvPr/>
        </p:nvSpPr>
        <p:spPr>
          <a:xfrm>
            <a:off x="4480560" y="384048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2024 vs 1961: maize yield ×3.2 on ×1.4 area; rice area ×3.1 with yield ×1.8.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8046720" y="1554480"/>
            <a:ext cx="3565800" cy="44802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8" name="Chart 0"/>
          <p:cNvGraphicFramePr/>
          <p:nvPr/>
        </p:nvGraphicFramePr>
        <p:xfrm>
          <a:off x="8092440" y="1600200"/>
          <a:ext cx="3474360" cy="2377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9" name="Text 11"/>
          <p:cNvSpPr/>
          <p:nvPr/>
        </p:nvSpPr>
        <p:spPr>
          <a:xfrm>
            <a:off x="8183880" y="40690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Yield scale differs sharply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8183880" y="443484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Sugar cane averages ~101,800 kg/ha; the median crop ~9,700 kg/ha.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Feature engineering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54864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Raw history becomes predictive features — without using the future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822960" y="1783080"/>
            <a:ext cx="639720" cy="639720"/>
          </a:xfrm>
          <a:prstGeom prst="ellipse">
            <a:avLst/>
          </a:prstGeom>
          <a:solidFill>
            <a:srgbClr val="3F8F4E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822960" y="17830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t-3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1508760" y="2103120"/>
            <a:ext cx="1737360" cy="360"/>
          </a:xfrm>
          <a:prstGeom prst="line">
            <a:avLst/>
          </a:prstGeom>
          <a:ln w="31750">
            <a:solidFill>
              <a:srgbClr val="3F8F4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3291840" y="1783080"/>
            <a:ext cx="639720" cy="639720"/>
          </a:xfrm>
          <a:prstGeom prst="ellipse">
            <a:avLst/>
          </a:prstGeom>
          <a:solidFill>
            <a:srgbClr val="3F8F4E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3291840" y="17830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t-2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9"/>
          <p:cNvSpPr/>
          <p:nvPr/>
        </p:nvSpPr>
        <p:spPr>
          <a:xfrm>
            <a:off x="3977640" y="2103120"/>
            <a:ext cx="1737360" cy="360"/>
          </a:xfrm>
          <a:prstGeom prst="line">
            <a:avLst/>
          </a:prstGeom>
          <a:ln w="31750">
            <a:solidFill>
              <a:srgbClr val="3F8F4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0"/>
          <p:cNvSpPr/>
          <p:nvPr/>
        </p:nvSpPr>
        <p:spPr>
          <a:xfrm>
            <a:off x="5760720" y="1783080"/>
            <a:ext cx="639720" cy="639720"/>
          </a:xfrm>
          <a:prstGeom prst="ellipse">
            <a:avLst/>
          </a:prstGeom>
          <a:solidFill>
            <a:srgbClr val="3F8F4E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5760720" y="17830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t-1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6446520" y="2103120"/>
            <a:ext cx="1737360" cy="360"/>
          </a:xfrm>
          <a:prstGeom prst="line">
            <a:avLst/>
          </a:prstGeom>
          <a:ln w="31750">
            <a:solidFill>
              <a:srgbClr val="3F8F4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3"/>
          <p:cNvSpPr/>
          <p:nvPr/>
        </p:nvSpPr>
        <p:spPr>
          <a:xfrm>
            <a:off x="8229600" y="1783080"/>
            <a:ext cx="639720" cy="6397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8229600" y="17830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822960" y="251460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Known past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7223760" y="2514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A6410"/>
                </a:solidFill>
                <a:effectLst/>
                <a:uFillTx/>
                <a:latin typeface="Calibri"/>
              </a:rPr>
              <a:t>Target: Yield (kg/ha)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7"/>
          <p:cNvSpPr/>
          <p:nvPr/>
        </p:nvSpPr>
        <p:spPr>
          <a:xfrm>
            <a:off x="548640" y="3108960"/>
            <a:ext cx="265140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8"/>
          <p:cNvSpPr/>
          <p:nvPr/>
        </p:nvSpPr>
        <p:spPr>
          <a:xfrm>
            <a:off x="685800" y="32461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3D2E"/>
                </a:solidFill>
                <a:effectLst/>
                <a:uFillTx/>
                <a:latin typeface="Consolas"/>
                <a:ea typeface="Consolas"/>
              </a:rPr>
              <a:t>Yi el d_Lag1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685800" y="3657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yield at t-1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0"/>
          <p:cNvSpPr/>
          <p:nvPr/>
        </p:nvSpPr>
        <p:spPr>
          <a:xfrm>
            <a:off x="3337560" y="3108960"/>
            <a:ext cx="265140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1"/>
          <p:cNvSpPr/>
          <p:nvPr/>
        </p:nvSpPr>
        <p:spPr>
          <a:xfrm>
            <a:off x="3474720" y="32461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3D2E"/>
                </a:solidFill>
                <a:effectLst/>
                <a:uFillTx/>
                <a:latin typeface="Consolas"/>
                <a:ea typeface="Consolas"/>
              </a:rPr>
              <a:t>Yi el d_Lag2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3474720" y="3657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yield at t-2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3"/>
          <p:cNvSpPr/>
          <p:nvPr/>
        </p:nvSpPr>
        <p:spPr>
          <a:xfrm>
            <a:off x="6126480" y="3108960"/>
            <a:ext cx="265140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4"/>
          <p:cNvSpPr/>
          <p:nvPr/>
        </p:nvSpPr>
        <p:spPr>
          <a:xfrm>
            <a:off x="6263640" y="32461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3D2E"/>
                </a:solidFill>
                <a:effectLst/>
                <a:uFillTx/>
                <a:latin typeface="Consolas"/>
                <a:ea typeface="Consolas"/>
              </a:rPr>
              <a:t>Yi el d_Rol l I ng Mean_3Y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5"/>
          <p:cNvSpPr/>
          <p:nvPr/>
        </p:nvSpPr>
        <p:spPr>
          <a:xfrm>
            <a:off x="6263640" y="3657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mean of t-1…t-3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6"/>
          <p:cNvSpPr/>
          <p:nvPr/>
        </p:nvSpPr>
        <p:spPr>
          <a:xfrm>
            <a:off x="8915400" y="3108960"/>
            <a:ext cx="265140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7"/>
          <p:cNvSpPr/>
          <p:nvPr/>
        </p:nvSpPr>
        <p:spPr>
          <a:xfrm>
            <a:off x="9052560" y="32461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3D2E"/>
                </a:solidFill>
                <a:effectLst/>
                <a:uFillTx/>
                <a:latin typeface="Consolas"/>
                <a:ea typeface="Consolas"/>
              </a:rPr>
              <a:t>Produc t i on_Lag1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8"/>
          <p:cNvSpPr/>
          <p:nvPr/>
        </p:nvSpPr>
        <p:spPr>
          <a:xfrm>
            <a:off x="9052560" y="3657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production at t-1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9"/>
          <p:cNvSpPr/>
          <p:nvPr/>
        </p:nvSpPr>
        <p:spPr>
          <a:xfrm>
            <a:off x="548640" y="4206240"/>
            <a:ext cx="265140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0"/>
          <p:cNvSpPr/>
          <p:nvPr/>
        </p:nvSpPr>
        <p:spPr>
          <a:xfrm>
            <a:off x="685800" y="43434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3D2E"/>
                </a:solidFill>
                <a:effectLst/>
                <a:uFillTx/>
                <a:latin typeface="Consolas"/>
                <a:ea typeface="Consolas"/>
              </a:rPr>
              <a:t>Area_Lag1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1"/>
          <p:cNvSpPr/>
          <p:nvPr/>
        </p:nvSpPr>
        <p:spPr>
          <a:xfrm>
            <a:off x="685800" y="47548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harvested area at t-1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2"/>
          <p:cNvSpPr/>
          <p:nvPr/>
        </p:nvSpPr>
        <p:spPr>
          <a:xfrm>
            <a:off x="3337560" y="4206240"/>
            <a:ext cx="265140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3"/>
          <p:cNvSpPr/>
          <p:nvPr/>
        </p:nvSpPr>
        <p:spPr>
          <a:xfrm>
            <a:off x="3474720" y="43434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3D2E"/>
                </a:solidFill>
                <a:effectLst/>
                <a:uFillTx/>
                <a:latin typeface="Consolas"/>
                <a:ea typeface="Consolas"/>
              </a:rPr>
              <a:t>Area_Growth_Lag1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4"/>
          <p:cNvSpPr/>
          <p:nvPr/>
        </p:nvSpPr>
        <p:spPr>
          <a:xfrm>
            <a:off x="3474720" y="47548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area change into t-1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5"/>
          <p:cNvSpPr/>
          <p:nvPr/>
        </p:nvSpPr>
        <p:spPr>
          <a:xfrm>
            <a:off x="6126480" y="4206240"/>
            <a:ext cx="265140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6"/>
          <p:cNvSpPr/>
          <p:nvPr/>
        </p:nvSpPr>
        <p:spPr>
          <a:xfrm>
            <a:off x="6263640" y="43434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3D2E"/>
                </a:solidFill>
                <a:effectLst/>
                <a:uFillTx/>
                <a:latin typeface="Consolas"/>
                <a:ea typeface="Consolas"/>
              </a:rPr>
              <a:t>Producti on_Growth_Lag1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7"/>
          <p:cNvSpPr/>
          <p:nvPr/>
        </p:nvSpPr>
        <p:spPr>
          <a:xfrm>
            <a:off x="6263640" y="47548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production change into t-1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8"/>
          <p:cNvSpPr/>
          <p:nvPr/>
        </p:nvSpPr>
        <p:spPr>
          <a:xfrm>
            <a:off x="8869680" y="4206240"/>
            <a:ext cx="2651400" cy="914040"/>
          </a:xfrm>
          <a:prstGeom prst="roundRect">
            <a:avLst>
              <a:gd name="adj" fmla="val 8000"/>
            </a:avLst>
          </a:prstGeom>
          <a:solidFill>
            <a:srgbClr val="0F3D2E"/>
          </a:solidFill>
          <a:ln w="12700">
            <a:solidFill>
              <a:srgbClr val="0F3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9"/>
          <p:cNvSpPr/>
          <p:nvPr/>
        </p:nvSpPr>
        <p:spPr>
          <a:xfrm>
            <a:off x="9006840" y="425196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Crop identity (Item) added as a categorical feature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40"/>
          <p:cNvSpPr/>
          <p:nvPr/>
        </p:nvSpPr>
        <p:spPr>
          <a:xfrm>
            <a:off x="548640" y="5486400"/>
            <a:ext cx="10972440" cy="639720"/>
          </a:xfrm>
          <a:prstGeom prst="roundRect">
            <a:avLst>
              <a:gd name="adj" fmla="val 11429"/>
            </a:avLst>
          </a:prstGeom>
          <a:solidFill>
            <a:srgbClr val="E4F1E0"/>
          </a:solidFill>
          <a:ln w="12700">
            <a:solidFill>
              <a:srgbClr val="BCD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1"/>
          <p:cNvSpPr/>
          <p:nvPr/>
        </p:nvSpPr>
        <p:spPr>
          <a:xfrm>
            <a:off x="548640" y="54864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No future information is used to predict the target.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Machine learning approach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54864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Simple baseline first, then two models of increasing flexibility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"/>
          <p:cNvSpPr/>
          <p:nvPr/>
        </p:nvSpPr>
        <p:spPr>
          <a:xfrm>
            <a:off x="548640" y="1645920"/>
            <a:ext cx="347436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73152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F8F4E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1280160" y="184716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Historical features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1280160" y="233172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7 lag/rolling/growth + crop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8"/>
          <p:cNvSpPr/>
          <p:nvPr/>
        </p:nvSpPr>
        <p:spPr>
          <a:xfrm>
            <a:off x="4343400" y="1645920"/>
            <a:ext cx="347436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452628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F8F4E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5074920" y="184716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Preprocessing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5074920" y="233172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one-hot crop · scale numerics (train-fit)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2"/>
          <p:cNvSpPr/>
          <p:nvPr/>
        </p:nvSpPr>
        <p:spPr>
          <a:xfrm>
            <a:off x="8138160" y="1645920"/>
            <a:ext cx="3474360" cy="1462680"/>
          </a:xfrm>
          <a:prstGeom prst="roundRect">
            <a:avLst>
              <a:gd name="adj" fmla="val 5000"/>
            </a:avLst>
          </a:prstGeom>
          <a:solidFill>
            <a:srgbClr val="FBF1D8"/>
          </a:solidFill>
          <a:ln w="12700">
            <a:solidFill>
              <a:srgbClr val="D9A4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832104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F8F4E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4"/>
          <p:cNvSpPr/>
          <p:nvPr/>
        </p:nvSpPr>
        <p:spPr>
          <a:xfrm>
            <a:off x="8869680" y="184716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Persistence baseline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5"/>
          <p:cNvSpPr/>
          <p:nvPr/>
        </p:nvSpPr>
        <p:spPr>
          <a:xfrm>
            <a:off x="8869680" y="233172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yield = last year's yield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6"/>
          <p:cNvSpPr/>
          <p:nvPr/>
        </p:nvSpPr>
        <p:spPr>
          <a:xfrm>
            <a:off x="548640" y="3474720"/>
            <a:ext cx="347436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7"/>
          <p:cNvSpPr/>
          <p:nvPr/>
        </p:nvSpPr>
        <p:spPr>
          <a:xfrm>
            <a:off x="731520" y="3657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F8F4E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8"/>
          <p:cNvSpPr/>
          <p:nvPr/>
        </p:nvSpPr>
        <p:spPr>
          <a:xfrm>
            <a:off x="1280160" y="367596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Linear Regression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9"/>
          <p:cNvSpPr/>
          <p:nvPr/>
        </p:nvSpPr>
        <p:spPr>
          <a:xfrm>
            <a:off x="1280160" y="416052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linear relationships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0"/>
          <p:cNvSpPr/>
          <p:nvPr/>
        </p:nvSpPr>
        <p:spPr>
          <a:xfrm>
            <a:off x="4343400" y="3474720"/>
            <a:ext cx="347436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4526280" y="3657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F8F4E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2"/>
          <p:cNvSpPr/>
          <p:nvPr/>
        </p:nvSpPr>
        <p:spPr>
          <a:xfrm>
            <a:off x="5074920" y="367596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Decision Tree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3"/>
          <p:cNvSpPr/>
          <p:nvPr/>
        </p:nvSpPr>
        <p:spPr>
          <a:xfrm>
            <a:off x="5074920" y="416052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non-linear · depth tuned (5)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4"/>
          <p:cNvSpPr/>
          <p:nvPr/>
        </p:nvSpPr>
        <p:spPr>
          <a:xfrm>
            <a:off x="8138160" y="3474720"/>
            <a:ext cx="347436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5"/>
          <p:cNvSpPr/>
          <p:nvPr/>
        </p:nvSpPr>
        <p:spPr>
          <a:xfrm>
            <a:off x="8321040" y="3657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F8F4E"/>
                </a:solidFill>
                <a:effectLst/>
                <a:uFillTx/>
                <a:latin typeface="Georgia"/>
                <a:ea typeface="Georgia"/>
              </a:rPr>
              <a:t>6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6"/>
          <p:cNvSpPr/>
          <p:nvPr/>
        </p:nvSpPr>
        <p:spPr>
          <a:xfrm>
            <a:off x="8869680" y="367596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Evaluation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7"/>
          <p:cNvSpPr/>
          <p:nvPr/>
        </p:nvSpPr>
        <p:spPr>
          <a:xfrm>
            <a:off x="8869680" y="416052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MAE · MSE · RMSE · R²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8"/>
          <p:cNvSpPr/>
          <p:nvPr/>
        </p:nvSpPr>
        <p:spPr>
          <a:xfrm>
            <a:off x="548640" y="53949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Depth chosen on a chronological validation split (2004–2013): best max_depth = 5. Final scores come from the untouched 2014–2024 test set.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Model performance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54864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Final test results (2014–2024, 827 records)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6" name="Table 0"/>
          <p:cNvGraphicFramePr/>
          <p:nvPr/>
        </p:nvGraphicFramePr>
        <p:xfrm>
          <a:off x="548640" y="1645920"/>
          <a:ext cx="6034680" cy="237744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1188720"/>
                <a:gridCol w="1188720"/>
              </a:tblGrid>
              <a:tr h="5943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RMSE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R²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0F3D2E"/>
                    </a:solidFill>
                  </a:tcPr>
                </a:tc>
              </a:tr>
              <a:tr h="5943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2227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Persistence Baseline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929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3F8F4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227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2,672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227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0.973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2227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Linear Regression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EFE9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227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1,140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EFE9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2,498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3F8F4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0.977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3F8F4E"/>
                    </a:solidFill>
                  </a:tcPr>
                </a:tc>
              </a:tr>
              <a:tr h="5943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2227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Decision Tree (depth 5)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227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1,361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227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2,695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227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0.973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DDCF"/>
                      </a:solidFill>
                      <a:prstDash val="solid"/>
                    </a:lnL>
                    <a:lnR w="12240">
                      <a:solidFill>
                        <a:srgbClr val="E2DDCF"/>
                      </a:solidFill>
                      <a:prstDash val="solid"/>
                    </a:lnR>
                    <a:lnT w="12240">
                      <a:solidFill>
                        <a:srgbClr val="E2DDCF"/>
                      </a:solidFill>
                      <a:prstDash val="solid"/>
                    </a:lnT>
                    <a:lnB w="12240">
                      <a:solidFill>
                        <a:srgbClr val="E2DD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7" name="Text 4"/>
          <p:cNvSpPr/>
          <p:nvPr/>
        </p:nvSpPr>
        <p:spPr>
          <a:xfrm>
            <a:off x="548640" y="4206240"/>
            <a:ext cx="6034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Green = best on that metric. MAE and RMSE in kg/ha.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5"/>
          <p:cNvSpPr/>
          <p:nvPr/>
        </p:nvSpPr>
        <p:spPr>
          <a:xfrm>
            <a:off x="548640" y="4572000"/>
            <a:ext cx="6034680" cy="1554120"/>
          </a:xfrm>
          <a:prstGeom prst="roundRect">
            <a:avLst>
              <a:gd name="adj" fmla="val 4706"/>
            </a:avLst>
          </a:prstGeom>
          <a:solidFill>
            <a:srgbClr val="E4F1E0"/>
          </a:solidFill>
          <a:ln w="12700">
            <a:solidFill>
              <a:srgbClr val="BCD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731520" y="4663440"/>
            <a:ext cx="5668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Reading the metrics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MAE = typical error. RMSE penalizes large misses. Linear Regression lowers RMSE by ~7% vs. baseline, but the baseline has the smaller typical error.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0" name="Chart 0"/>
          <p:cNvGraphicFramePr/>
          <p:nvPr/>
        </p:nvGraphicFramePr>
        <p:xfrm>
          <a:off x="6858000" y="1554480"/>
          <a:ext cx="4754520" cy="457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Error analysis: where models struggle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54864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Absolute error grows with the yield scale of the crop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5" name="Chart 0"/>
          <p:cNvGraphicFramePr/>
          <p:nvPr/>
        </p:nvGraphicFramePr>
        <p:xfrm>
          <a:off x="548640" y="1554480"/>
          <a:ext cx="603468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6" name="Shape 4"/>
          <p:cNvSpPr/>
          <p:nvPr/>
        </p:nvSpPr>
        <p:spPr>
          <a:xfrm>
            <a:off x="6858000" y="1554480"/>
            <a:ext cx="4754520" cy="365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0" descr="Fina_19_5.png"/>
          <p:cNvPicPr/>
          <p:nvPr/>
        </p:nvPicPr>
        <p:blipFill>
          <a:blip r:embed="rId2"/>
          <a:stretch/>
        </p:blipFill>
        <p:spPr>
          <a:xfrm>
            <a:off x="6995160" y="1645920"/>
            <a:ext cx="3611520" cy="308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5"/>
          <p:cNvSpPr/>
          <p:nvPr/>
        </p:nvSpPr>
        <p:spPr>
          <a:xfrm>
            <a:off x="6995160" y="47548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Linear Regression: actual vs predicted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6"/>
          <p:cNvSpPr/>
          <p:nvPr/>
        </p:nvSpPr>
        <p:spPr>
          <a:xfrm>
            <a:off x="548640" y="5394960"/>
            <a:ext cx="11063880" cy="776880"/>
          </a:xfrm>
          <a:prstGeom prst="roundRect">
            <a:avLst>
              <a:gd name="adj" fmla="val 9412"/>
            </a:avLst>
          </a:prstGeom>
          <a:solidFill>
            <a:srgbClr val="FBF1D8"/>
          </a:solidFill>
          <a:ln w="12700">
            <a:solidFill>
              <a:srgbClr val="D9A4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731520" y="5394960"/>
            <a:ext cx="10698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Sugar cane and sugar beet carry the largest absolute errors (e.g. sugar cane MAE: baseline 8,328 · linear 7,444 · tree 8,939 kg/ha) — their yields are 5–10× larger than typical crops, so same-percentage misses look bigger.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Model interpretation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"/>
          <p:cNvSpPr/>
          <p:nvPr/>
        </p:nvSpPr>
        <p:spPr>
          <a:xfrm>
            <a:off x="54864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Recent historical yield carries the predictive signal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5" name="Chart 0"/>
          <p:cNvGraphicFramePr/>
          <p:nvPr/>
        </p:nvGraphicFramePr>
        <p:xfrm>
          <a:off x="548640" y="1554480"/>
          <a:ext cx="5486040" cy="384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66" name="Chart 1"/>
          <p:cNvGraphicFramePr/>
          <p:nvPr/>
        </p:nvGraphicFramePr>
        <p:xfrm>
          <a:off x="6217920" y="1554480"/>
          <a:ext cx="5394600" cy="384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7" name="Shape 4"/>
          <p:cNvSpPr/>
          <p:nvPr/>
        </p:nvSpPr>
        <p:spPr>
          <a:xfrm>
            <a:off x="548640" y="5532120"/>
            <a:ext cx="11063880" cy="731160"/>
          </a:xfrm>
          <a:prstGeom prst="roundRect">
            <a:avLst>
              <a:gd name="adj" fmla="val 10000"/>
            </a:avLst>
          </a:prstGeom>
          <a:solidFill>
            <a:srgbClr val="E4F1E0"/>
          </a:solidFill>
          <a:ln w="12700">
            <a:solidFill>
              <a:srgbClr val="BCD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731520" y="553212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Yield_Lag1 and Yield_RollingMean_3Y dominate both views: recent historical yield is strongly associated with current-year yield. The tree's Sugar cane term reflects that crop's very large yield scale.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The final product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"/>
          <p:cNvSpPr/>
          <p:nvPr/>
        </p:nvSpPr>
        <p:spPr>
          <a:xfrm>
            <a:off x="54864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prediction interface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3" name="Image 0" descr="dash.png"/>
          <p:cNvPicPr/>
          <p:nvPr/>
        </p:nvPicPr>
        <p:blipFill>
          <a:blip r:embed="rId1"/>
          <a:stretch/>
        </p:blipFill>
        <p:spPr>
          <a:xfrm>
            <a:off x="548640" y="1463040"/>
            <a:ext cx="3748680" cy="477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Shape 4"/>
          <p:cNvSpPr/>
          <p:nvPr/>
        </p:nvSpPr>
        <p:spPr>
          <a:xfrm>
            <a:off x="5120640" y="1463040"/>
            <a:ext cx="548280" cy="548280"/>
          </a:xfrm>
          <a:prstGeom prst="ellipse">
            <a:avLst/>
          </a:prstGeom>
          <a:solidFill>
            <a:srgbClr val="3F8F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5"/>
          <p:cNvSpPr/>
          <p:nvPr/>
        </p:nvSpPr>
        <p:spPr>
          <a:xfrm>
            <a:off x="5120640" y="14630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6"/>
          <p:cNvSpPr/>
          <p:nvPr/>
        </p:nvSpPr>
        <p:spPr>
          <a:xfrm>
            <a:off x="5852160" y="141732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Select a crop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7"/>
          <p:cNvSpPr/>
          <p:nvPr/>
        </p:nvSpPr>
        <p:spPr>
          <a:xfrm>
            <a:off x="5852160" y="181044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77 crops; Linear Regression or Decision Tree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8"/>
          <p:cNvSpPr/>
          <p:nvPr/>
        </p:nvSpPr>
        <p:spPr>
          <a:xfrm>
            <a:off x="5120640" y="2423160"/>
            <a:ext cx="548280" cy="548280"/>
          </a:xfrm>
          <a:prstGeom prst="ellipse">
            <a:avLst/>
          </a:prstGeom>
          <a:solidFill>
            <a:srgbClr val="3F8F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9"/>
          <p:cNvSpPr/>
          <p:nvPr/>
        </p:nvSpPr>
        <p:spPr>
          <a:xfrm>
            <a:off x="5120640" y="24231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0"/>
          <p:cNvSpPr/>
          <p:nvPr/>
        </p:nvSpPr>
        <p:spPr>
          <a:xfrm>
            <a:off x="5852160" y="237744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Review / edit historical inputs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1"/>
          <p:cNvSpPr/>
          <p:nvPr/>
        </p:nvSpPr>
        <p:spPr>
          <a:xfrm>
            <a:off x="5852160" y="277056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Yield t-1…t-3, Production t-1…t-2, Area t-1…t-2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2"/>
          <p:cNvSpPr/>
          <p:nvPr/>
        </p:nvSpPr>
        <p:spPr>
          <a:xfrm>
            <a:off x="5120640" y="3383280"/>
            <a:ext cx="548280" cy="548280"/>
          </a:xfrm>
          <a:prstGeom prst="ellipse">
            <a:avLst/>
          </a:prstGeom>
          <a:solidFill>
            <a:srgbClr val="3F8F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3"/>
          <p:cNvSpPr/>
          <p:nvPr/>
        </p:nvSpPr>
        <p:spPr>
          <a:xfrm>
            <a:off x="5120640" y="3383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4"/>
          <p:cNvSpPr/>
          <p:nvPr/>
        </p:nvSpPr>
        <p:spPr>
          <a:xfrm>
            <a:off x="5852160" y="333756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Generate a prediction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5"/>
          <p:cNvSpPr/>
          <p:nvPr/>
        </p:nvSpPr>
        <p:spPr>
          <a:xfrm>
            <a:off x="5852160" y="373068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Last year (compare with actual) or Forecast next year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6"/>
          <p:cNvSpPr/>
          <p:nvPr/>
        </p:nvSpPr>
        <p:spPr>
          <a:xfrm>
            <a:off x="5120640" y="4343400"/>
            <a:ext cx="548280" cy="548280"/>
          </a:xfrm>
          <a:prstGeom prst="ellipse">
            <a:avLst/>
          </a:prstGeom>
          <a:solidFill>
            <a:srgbClr val="3F8F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7"/>
          <p:cNvSpPr/>
          <p:nvPr/>
        </p:nvSpPr>
        <p:spPr>
          <a:xfrm>
            <a:off x="5120640" y="43434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8"/>
          <p:cNvSpPr/>
          <p:nvPr/>
        </p:nvSpPr>
        <p:spPr>
          <a:xfrm>
            <a:off x="5852160" y="429768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Compare with the baseline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9"/>
          <p:cNvSpPr/>
          <p:nvPr/>
        </p:nvSpPr>
        <p:spPr>
          <a:xfrm>
            <a:off x="5852160" y="469080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Model vs. "same as last year"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0"/>
          <p:cNvSpPr/>
          <p:nvPr/>
        </p:nvSpPr>
        <p:spPr>
          <a:xfrm>
            <a:off x="5120640" y="5303520"/>
            <a:ext cx="548280" cy="548280"/>
          </a:xfrm>
          <a:prstGeom prst="ellipse">
            <a:avLst/>
          </a:prstGeom>
          <a:solidFill>
            <a:srgbClr val="3F8F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1"/>
          <p:cNvSpPr/>
          <p:nvPr/>
        </p:nvSpPr>
        <p:spPr>
          <a:xfrm>
            <a:off x="5120640" y="53035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2"/>
          <p:cNvSpPr/>
          <p:nvPr/>
        </p:nvSpPr>
        <p:spPr>
          <a:xfrm>
            <a:off x="5852160" y="525780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3D2E"/>
                </a:solidFill>
                <a:effectLst/>
                <a:uFillTx/>
                <a:latin typeface="Calibri"/>
              </a:rPr>
              <a:t>Review model performance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3"/>
          <p:cNvSpPr/>
          <p:nvPr/>
        </p:nvSpPr>
        <p:spPr>
          <a:xfrm>
            <a:off x="5852160" y="565092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MAE · RMSE · R² on the test set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4"/>
          <p:cNvSpPr/>
          <p:nvPr/>
        </p:nvSpPr>
        <p:spPr>
          <a:xfrm>
            <a:off x="5120640" y="603504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F8F4E"/>
                </a:solidFill>
                <a:effectLst/>
                <a:uFillTx/>
                <a:latin typeface="Calibri"/>
              </a:rPr>
              <a:t>Runs entirely in the browser — no installation, no server.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System architecture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54864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What is actually implemented in the repository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4"/>
          <p:cNvSpPr/>
          <p:nvPr/>
        </p:nvSpPr>
        <p:spPr>
          <a:xfrm>
            <a:off x="548640" y="14630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3F8F4E"/>
                </a:solidFill>
                <a:effectLst/>
                <a:uFillTx/>
                <a:latin typeface="Calibri"/>
              </a:rPr>
              <a:t>TRAINING (offline)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5"/>
          <p:cNvSpPr/>
          <p:nvPr/>
        </p:nvSpPr>
        <p:spPr>
          <a:xfrm>
            <a:off x="548640" y="1828800"/>
            <a:ext cx="2368080" cy="1005480"/>
          </a:xfrm>
          <a:prstGeom prst="chevron">
            <a:avLst>
              <a:gd name="adj" fmla="val 50000"/>
            </a:avLst>
          </a:prstGeom>
          <a:solidFill>
            <a:srgbClr val="0F3D2E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822960" y="1828800"/>
            <a:ext cx="1910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FAOSTAT CSV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7"/>
          <p:cNvSpPr/>
          <p:nvPr/>
        </p:nvSpPr>
        <p:spPr>
          <a:xfrm>
            <a:off x="2779920" y="1828800"/>
            <a:ext cx="2368080" cy="1005480"/>
          </a:xfrm>
          <a:prstGeom prst="chevron">
            <a:avLst>
              <a:gd name="adj" fmla="val 50000"/>
            </a:avLst>
          </a:prstGeom>
          <a:solidFill>
            <a:srgbClr val="1D5A3F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3054240" y="1828800"/>
            <a:ext cx="1910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 processing (notebooks)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9"/>
          <p:cNvSpPr/>
          <p:nvPr/>
        </p:nvSpPr>
        <p:spPr>
          <a:xfrm>
            <a:off x="5010840" y="1828800"/>
            <a:ext cx="2368080" cy="1005480"/>
          </a:xfrm>
          <a:prstGeom prst="chevron">
            <a:avLst>
              <a:gd name="adj" fmla="val 50000"/>
            </a:avLst>
          </a:prstGeom>
          <a:solidFill>
            <a:srgbClr val="3F8F4E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0"/>
          <p:cNvSpPr/>
          <p:nvPr/>
        </p:nvSpPr>
        <p:spPr>
          <a:xfrm>
            <a:off x="5285160" y="1828800"/>
            <a:ext cx="1910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train / test CSVs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1"/>
          <p:cNvSpPr/>
          <p:nvPr/>
        </p:nvSpPr>
        <p:spPr>
          <a:xfrm>
            <a:off x="7242120" y="1828800"/>
            <a:ext cx="2368080" cy="1005480"/>
          </a:xfrm>
          <a:prstGeom prst="chevron">
            <a:avLst>
              <a:gd name="adj" fmla="val 50000"/>
            </a:avLst>
          </a:prstGeom>
          <a:solidFill>
            <a:srgbClr val="5FA350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7516440" y="1828800"/>
            <a:ext cx="1910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train_model.py (scikit-learn)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3"/>
          <p:cNvSpPr/>
          <p:nvPr/>
        </p:nvSpPr>
        <p:spPr>
          <a:xfrm>
            <a:off x="9473040" y="1828800"/>
            <a:ext cx="2368080" cy="1005480"/>
          </a:xfrm>
          <a:prstGeom prst="chevron">
            <a:avLst>
              <a:gd name="adj" fmla="val 50000"/>
            </a:avLst>
          </a:prstGeom>
          <a:solidFill>
            <a:srgbClr val="7AB844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4"/>
          <p:cNvSpPr/>
          <p:nvPr/>
        </p:nvSpPr>
        <p:spPr>
          <a:xfrm>
            <a:off x="9747360" y="1828800"/>
            <a:ext cx="1910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model.json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5"/>
          <p:cNvSpPr/>
          <p:nvPr/>
        </p:nvSpPr>
        <p:spPr>
          <a:xfrm>
            <a:off x="548640" y="33832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D9A441"/>
                </a:solidFill>
                <a:effectLst/>
                <a:uFillTx/>
                <a:latin typeface="Calibri"/>
              </a:rPr>
              <a:t>PREDICTION (in the browser)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6"/>
          <p:cNvSpPr/>
          <p:nvPr/>
        </p:nvSpPr>
        <p:spPr>
          <a:xfrm>
            <a:off x="548640" y="3749040"/>
            <a:ext cx="2368080" cy="1005480"/>
          </a:xfrm>
          <a:prstGeom prst="chevron">
            <a:avLst>
              <a:gd name="adj" fmla="val 50000"/>
            </a:avLst>
          </a:prstGeom>
          <a:solidFill>
            <a:srgbClr val="7A5C1E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7"/>
          <p:cNvSpPr/>
          <p:nvPr/>
        </p:nvSpPr>
        <p:spPr>
          <a:xfrm>
            <a:off x="822960" y="3749040"/>
            <a:ext cx="1910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8"/>
          <p:cNvSpPr/>
          <p:nvPr/>
        </p:nvSpPr>
        <p:spPr>
          <a:xfrm>
            <a:off x="2779920" y="3749040"/>
            <a:ext cx="2368080" cy="1005480"/>
          </a:xfrm>
          <a:prstGeom prst="chevron">
            <a:avLst>
              <a:gd name="adj" fmla="val 50000"/>
            </a:avLst>
          </a:prstGeom>
          <a:solidFill>
            <a:srgbClr val="A47A22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9"/>
          <p:cNvSpPr/>
          <p:nvPr/>
        </p:nvSpPr>
        <p:spPr>
          <a:xfrm>
            <a:off x="3054240" y="3749040"/>
            <a:ext cx="1910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crop_yield_app.html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20"/>
          <p:cNvSpPr/>
          <p:nvPr/>
        </p:nvSpPr>
        <p:spPr>
          <a:xfrm>
            <a:off x="5010840" y="3749040"/>
            <a:ext cx="2368080" cy="1005480"/>
          </a:xfrm>
          <a:prstGeom prst="chevron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1"/>
          <p:cNvSpPr/>
          <p:nvPr/>
        </p:nvSpPr>
        <p:spPr>
          <a:xfrm>
            <a:off x="5285160" y="3749040"/>
            <a:ext cx="1910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Preprocess inputs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2"/>
          <p:cNvSpPr/>
          <p:nvPr/>
        </p:nvSpPr>
        <p:spPr>
          <a:xfrm>
            <a:off x="7242120" y="3749040"/>
            <a:ext cx="2368080" cy="1005480"/>
          </a:xfrm>
          <a:prstGeom prst="chevron">
            <a:avLst>
              <a:gd name="adj" fmla="val 50000"/>
            </a:avLst>
          </a:prstGeom>
          <a:solidFill>
            <a:srgbClr val="C8913A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3"/>
          <p:cNvSpPr/>
          <p:nvPr/>
        </p:nvSpPr>
        <p:spPr>
          <a:xfrm>
            <a:off x="7516440" y="3749040"/>
            <a:ext cx="1910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Linear / Tree from model.json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4"/>
          <p:cNvSpPr/>
          <p:nvPr/>
        </p:nvSpPr>
        <p:spPr>
          <a:xfrm>
            <a:off x="9473040" y="3749040"/>
            <a:ext cx="2368080" cy="1005480"/>
          </a:xfrm>
          <a:prstGeom prst="chevron">
            <a:avLst>
              <a:gd name="adj" fmla="val 50000"/>
            </a:avLst>
          </a:prstGeom>
          <a:solidFill>
            <a:srgbClr val="B5832E"/>
          </a:solidFill>
          <a:ln w="12700">
            <a:solidFill>
              <a:srgbClr val="F6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5"/>
          <p:cNvSpPr/>
          <p:nvPr/>
        </p:nvSpPr>
        <p:spPr>
          <a:xfrm>
            <a:off x="9747360" y="3749040"/>
            <a:ext cx="1910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Predicted yield (kg/ha)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6"/>
          <p:cNvSpPr/>
          <p:nvPr/>
        </p:nvSpPr>
        <p:spPr>
          <a:xfrm>
            <a:off x="548640" y="521208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Deployed models were refit on all data (train + test); reported test scores come from the train-only fit.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7"/>
          <p:cNvSpPr/>
          <p:nvPr/>
        </p:nvSpPr>
        <p:spPr>
          <a:xfrm>
            <a:off x="548640" y="57150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Stack: Python · pandas · NumPy · scikit-learn · HTML/JavaScript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3D2E"/>
                </a:solidFill>
                <a:effectLst/>
                <a:uFillTx/>
                <a:latin typeface="Georgia"/>
                <a:ea typeface="Georgia"/>
              </a:rPr>
              <a:t>Limitations &amp; future work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3"/>
          <p:cNvSpPr/>
          <p:nvPr/>
        </p:nvSpPr>
        <p:spPr>
          <a:xfrm>
            <a:off x="548640" y="1371600"/>
            <a:ext cx="5394600" cy="4754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DD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4"/>
          <p:cNvSpPr/>
          <p:nvPr/>
        </p:nvSpPr>
        <p:spPr>
          <a:xfrm>
            <a:off x="6217920" y="1371600"/>
            <a:ext cx="5394600" cy="4754520"/>
          </a:xfrm>
          <a:prstGeom prst="roundRect">
            <a:avLst>
              <a:gd name="adj" fmla="val 1538"/>
            </a:avLst>
          </a:prstGeom>
          <a:solidFill>
            <a:srgbClr val="0F3D2E"/>
          </a:solidFill>
          <a:ln w="12700">
            <a:solidFill>
              <a:srgbClr val="0F3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822960" y="15544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201" strike="noStrike">
                <a:solidFill>
                  <a:srgbClr val="8A6410"/>
                </a:solidFill>
                <a:effectLst/>
                <a:uFillTx/>
                <a:latin typeface="Calibri"/>
              </a:rPr>
              <a:t>LIMITATIONS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6"/>
          <p:cNvSpPr/>
          <p:nvPr/>
        </p:nvSpPr>
        <p:spPr>
          <a:xfrm>
            <a:off x="822960" y="2103120"/>
            <a:ext cx="48459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2272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Historical agricultural data is the only information source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2272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No weather, rainfall or temperature variables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2272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No soil, fertilizer, irrigation or pest/disease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2272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Predictions follow historical patterns — not causal forecasts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2272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2272B"/>
                </a:solidFill>
                <a:effectLst/>
                <a:uFillTx/>
                <a:latin typeface="Calibri"/>
              </a:rPr>
              <a:t>Persistence baseline is hard to beat on MAE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7"/>
          <p:cNvSpPr/>
          <p:nvPr/>
        </p:nvSpPr>
        <p:spPr>
          <a:xfrm>
            <a:off x="6492240" y="15544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201" strike="noStrike">
                <a:solidFill>
                  <a:srgbClr val="8CC63F"/>
                </a:solidFill>
                <a:effectLst/>
                <a:uFillTx/>
                <a:latin typeface="Calibri"/>
              </a:rPr>
              <a:t>FUTURE WORK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8"/>
          <p:cNvSpPr/>
          <p:nvPr/>
        </p:nvSpPr>
        <p:spPr>
          <a:xfrm>
            <a:off x="6492240" y="2103120"/>
            <a:ext cx="48459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Add weather and climate data (rainfall, temperature)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Add soil and irrigation variables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Explore more advanced ensemble models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Investigate crop-specific models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Explore target transformations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 0"/>
          <p:cNvSpPr/>
          <p:nvPr/>
        </p:nvSpPr>
        <p:spPr>
          <a:xfrm>
            <a:off x="54864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Conclusion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DB8A5"/>
                </a:solidFill>
                <a:effectLst/>
                <a:uFillTx/>
                <a:latin typeface="Calibri"/>
              </a:rPr>
              <a:t>CropWise · GDG Al-Zaher Data Science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1115568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DB8A5"/>
                </a:solidFill>
                <a:effectLst/>
                <a:uFillTx/>
                <a:latin typeface="Calibri"/>
              </a:rPr>
              <a:t>15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548640" y="118872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CC63F"/>
                </a:solidFill>
                <a:effectLst/>
                <a:uFillTx/>
                <a:latin typeface="Calibri"/>
              </a:rPr>
              <a:t>Problem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2011680" y="1188720"/>
            <a:ext cx="950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Estimate crop yield from Egypt's FAOSTAT history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5"/>
          <p:cNvSpPr/>
          <p:nvPr/>
        </p:nvSpPr>
        <p:spPr>
          <a:xfrm>
            <a:off x="548640" y="1828800"/>
            <a:ext cx="11064240" cy="360"/>
          </a:xfrm>
          <a:prstGeom prst="line">
            <a:avLst/>
          </a:prstGeom>
          <a:ln w="12700">
            <a:solidFill>
              <a:srgbClr val="2A6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548640" y="193860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CC63F"/>
                </a:solidFill>
                <a:effectLst/>
                <a:uFillTx/>
                <a:latin typeface="Calibri"/>
              </a:rPr>
              <a:t>Data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7"/>
          <p:cNvSpPr/>
          <p:nvPr/>
        </p:nvSpPr>
        <p:spPr>
          <a:xfrm>
            <a:off x="2011680" y="1938600"/>
            <a:ext cx="950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Recent yield is the strongest signal; yield scales differ sharply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8"/>
          <p:cNvSpPr/>
          <p:nvPr/>
        </p:nvSpPr>
        <p:spPr>
          <a:xfrm>
            <a:off x="548640" y="2578320"/>
            <a:ext cx="11064240" cy="360"/>
          </a:xfrm>
          <a:prstGeom prst="line">
            <a:avLst/>
          </a:prstGeom>
          <a:ln w="12700">
            <a:solidFill>
              <a:srgbClr val="2A6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9"/>
          <p:cNvSpPr/>
          <p:nvPr/>
        </p:nvSpPr>
        <p:spPr>
          <a:xfrm>
            <a:off x="548640" y="268848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CC63F"/>
                </a:solidFill>
                <a:effectLst/>
                <a:uFillTx/>
                <a:latin typeface="Calibri"/>
              </a:rPr>
              <a:t>Models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0"/>
          <p:cNvSpPr/>
          <p:nvPr/>
        </p:nvSpPr>
        <p:spPr>
          <a:xfrm>
            <a:off x="2011680" y="2688480"/>
            <a:ext cx="950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Linear Regression: best RMSE 2,498 and R² 0.977; baseline: best MAE 929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1"/>
          <p:cNvSpPr/>
          <p:nvPr/>
        </p:nvSpPr>
        <p:spPr>
          <a:xfrm>
            <a:off x="548640" y="3328200"/>
            <a:ext cx="11064240" cy="360"/>
          </a:xfrm>
          <a:prstGeom prst="line">
            <a:avLst/>
          </a:prstGeom>
          <a:ln w="12700">
            <a:solidFill>
              <a:srgbClr val="2A6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2"/>
          <p:cNvSpPr/>
          <p:nvPr/>
        </p:nvSpPr>
        <p:spPr>
          <a:xfrm>
            <a:off x="548640" y="343800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CC63F"/>
                </a:solidFill>
                <a:effectLst/>
                <a:uFillTx/>
                <a:latin typeface="Calibri"/>
              </a:rPr>
              <a:t>Product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3"/>
          <p:cNvSpPr/>
          <p:nvPr/>
        </p:nvSpPr>
        <p:spPr>
          <a:xfrm>
            <a:off x="2011680" y="3438000"/>
            <a:ext cx="950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Browser app: pick a crop, edit inputs, compare with baseline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4"/>
          <p:cNvSpPr/>
          <p:nvPr/>
        </p:nvSpPr>
        <p:spPr>
          <a:xfrm>
            <a:off x="548640" y="4078080"/>
            <a:ext cx="11064240" cy="360"/>
          </a:xfrm>
          <a:prstGeom prst="line">
            <a:avLst/>
          </a:prstGeom>
          <a:ln w="12700">
            <a:solidFill>
              <a:srgbClr val="2A6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5"/>
          <p:cNvSpPr/>
          <p:nvPr/>
        </p:nvSpPr>
        <p:spPr>
          <a:xfrm>
            <a:off x="548640" y="418788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CC63F"/>
                </a:solidFill>
                <a:effectLst/>
                <a:uFillTx/>
                <a:latin typeface="Calibri"/>
              </a:rPr>
              <a:t>Limit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6"/>
          <p:cNvSpPr/>
          <p:nvPr/>
        </p:nvSpPr>
        <p:spPr>
          <a:xfrm>
            <a:off x="2011680" y="4187880"/>
            <a:ext cx="950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History only — no weather, soil or irrigation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7"/>
          <p:cNvSpPr/>
          <p:nvPr/>
        </p:nvSpPr>
        <p:spPr>
          <a:xfrm>
            <a:off x="548640" y="4827960"/>
            <a:ext cx="11064240" cy="360"/>
          </a:xfrm>
          <a:prstGeom prst="line">
            <a:avLst/>
          </a:prstGeom>
          <a:ln w="12700">
            <a:solidFill>
              <a:srgbClr val="2A6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8"/>
          <p:cNvSpPr/>
          <p:nvPr/>
        </p:nvSpPr>
        <p:spPr>
          <a:xfrm>
            <a:off x="548640" y="50292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CropWise turns historical agricultural data into a practical, data-driven crop yield prediction workflow.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9">
            <a:hlinkClick r:id="rId1"/>
          </p:cNvPr>
          <p:cNvSpPr/>
          <p:nvPr/>
        </p:nvSpPr>
        <p:spPr>
          <a:xfrm>
            <a:off x="548640" y="594360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8CC63F"/>
                </a:solidFill>
                <a:effectLst/>
                <a:uFillTx/>
                <a:latin typeface="Calibri"/>
                <a:hlinkClick r:id="rId2"/>
              </a:rPr>
              <a:t>github.com/Mohammed-Dahi/Egypt-Crop-Yield-Prediction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0"/>
          <p:cNvSpPr/>
          <p:nvPr/>
        </p:nvSpPr>
        <p:spPr>
          <a:xfrm>
            <a:off x="7315200" y="594360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Mohamed Dahi · Shorouk · Shams  |  Thank you — Q&amp;A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LibreOffice/26.2.5.2$Linux_X86_64 LibreOffice_project/6d2b0d33fb0f5da53a12f98bed3e9973e56ff1f0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2026-10-05T06:29:06Z</dcterms:created>
  <dc:creator>PptxGenJS</dc:creator>
  <dc:description/>
  <dc:language>en-US</dc:language>
  <cp:lastModifiedBy/>
  <dcterms:modified xsi:type="dcterms:W3CDTF">2026-10-05T09:35:18Z</dcterms:modified>
  <cp:revision>2</cp:revision>
  <dc:subject>PptxGenJS Presentation</dc:subject>
  <dc:title>CropWise — Egypt Crop Yield Prediction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